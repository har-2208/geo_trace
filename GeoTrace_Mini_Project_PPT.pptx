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9144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ptos"/>
        <a:ea typeface="Aptos"/>
        <a:cs typeface="Aptos"/>
        <a:sym typeface="Aptos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ptos"/>
        <a:ea typeface="Aptos"/>
        <a:cs typeface="Aptos"/>
        <a:sym typeface="Aptos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ptos"/>
        <a:ea typeface="Aptos"/>
        <a:cs typeface="Aptos"/>
        <a:sym typeface="Aptos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ptos"/>
        <a:ea typeface="Aptos"/>
        <a:cs typeface="Aptos"/>
        <a:sym typeface="Aptos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ptos"/>
        <a:ea typeface="Aptos"/>
        <a:cs typeface="Aptos"/>
        <a:sym typeface="Aptos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ptos"/>
        <a:ea typeface="Aptos"/>
        <a:cs typeface="Aptos"/>
        <a:sym typeface="Aptos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ptos"/>
        <a:ea typeface="Aptos"/>
        <a:cs typeface="Aptos"/>
        <a:sym typeface="Aptos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ptos"/>
        <a:ea typeface="Aptos"/>
        <a:cs typeface="Aptos"/>
        <a:sym typeface="Aptos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ptos"/>
        <a:ea typeface="Aptos"/>
        <a:cs typeface="Aptos"/>
        <a:sym typeface="Apto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Aptos"/>
          <a:ea typeface="Aptos"/>
          <a:cs typeface="Aptos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1D8"/>
          </a:solidFill>
        </a:fill>
      </a:tcStyle>
    </a:wholeTbl>
    <a:band2H>
      <a:tcTxStyle b="def" i="def"/>
      <a:tcStyle>
        <a:tcBdr/>
        <a:fill>
          <a:solidFill>
            <a:srgbClr val="E7E9EC"/>
          </a:solidFill>
        </a:fill>
      </a:tcStyle>
    </a:band2H>
    <a:firstCol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Aptos"/>
          <a:ea typeface="Aptos"/>
          <a:cs typeface="Aptos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D3CB"/>
          </a:solidFill>
        </a:fill>
      </a:tcStyle>
    </a:wholeTbl>
    <a:band2H>
      <a:tcTxStyle b="def" i="def"/>
      <a:tcStyle>
        <a:tcBdr/>
        <a:fill>
          <a:solidFill>
            <a:srgbClr val="E7EAE7"/>
          </a:solidFill>
        </a:fill>
      </a:tcStyle>
    </a:band2H>
    <a:firstCol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Aptos"/>
          <a:ea typeface="Aptos"/>
          <a:cs typeface="Aptos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E1CC"/>
          </a:solidFill>
        </a:fill>
      </a:tcStyle>
    </a:wholeTbl>
    <a:band2H>
      <a:tcTxStyle b="def" i="def"/>
      <a:tcStyle>
        <a:tcBdr/>
        <a:fill>
          <a:solidFill>
            <a:srgbClr val="E8F0E7"/>
          </a:solidFill>
        </a:fill>
      </a:tcStyle>
    </a:band2H>
    <a:firstCol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Aptos"/>
          <a:ea typeface="Aptos"/>
          <a:cs typeface="Aptos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Aptos"/>
          <a:ea typeface="Aptos"/>
          <a:cs typeface="Aptos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Aptos"/>
          <a:ea typeface="Aptos"/>
          <a:cs typeface="Apto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Aptos"/>
          <a:ea typeface="Aptos"/>
          <a:cs typeface="Apto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Aptos"/>
          <a:ea typeface="Aptos"/>
          <a:cs typeface="Apto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
</file>

<file path=ppt/charts/_rels/chart1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1.xlsx"/></Relationships>
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title>
      <c:tx>
        <c:rich>
          <a:bodyPr rot="0"/>
          <a:lstStyle/>
          <a:p>
            <a:pPr>
              <a:defRPr b="1" i="0" strike="noStrike" sz="1200" u="none">
                <a:solidFill>
                  <a:srgbClr val="202020"/>
                </a:solidFill>
                <a:latin typeface="Arial"/>
              </a:defRPr>
            </a:pPr>
            <a:r>
              <a:rPr b="1" i="0" strike="noStrike" sz="1200" u="none">
                <a:solidFill>
                  <a:srgbClr val="202020"/>
                </a:solidFill>
                <a:latin typeface="Arial"/>
              </a:rPr>
              <a:t>Packets by destination country (real capture)</a:t>
            </a:r>
          </a:p>
        </c:rich>
      </c:tx>
      <c:layout>
        <c:manualLayout>
          <c:xMode val="edge"/>
          <c:yMode val="edge"/>
          <c:x val="0.138859"/>
          <c:y val="0"/>
          <c:w val="0.722283"/>
          <c:h val="0.248716"/>
        </c:manualLayout>
      </c:layout>
      <c:overlay val="1"/>
      <c:spPr>
        <a:noFill/>
        <a:effectLst/>
      </c:spPr>
    </c:title>
    <c:autoTitleDeleted val="1"/>
    <c:plotArea>
      <c:layout>
        <c:manualLayout>
          <c:layoutTarget val="inner"/>
          <c:xMode val="edge"/>
          <c:yMode val="edge"/>
          <c:x val="0.228388"/>
          <c:y val="0.248716"/>
          <c:w val="0.699797"/>
          <c:h val="0.578346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Packets</c:v>
                </c:pt>
              </c:strCache>
            </c:strRef>
          </c:tx>
          <c:spPr>
            <a:solidFill>
              <a:srgbClr val="20375C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0202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India</c:v>
                </c:pt>
                <c:pt idx="1">
                  <c:v>United States</c:v>
                </c:pt>
                <c:pt idx="2">
                  <c:v>Canada</c:v>
                </c:pt>
                <c:pt idx="3">
                  <c:v>Singapore</c:v>
                </c:pt>
                <c:pt idx="4">
                  <c:v>Indonesia</c:v>
                </c:pt>
                <c:pt idx="5">
                  <c:v>Ireland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39330.000000</c:v>
                </c:pt>
                <c:pt idx="1">
                  <c:v>22323.000000</c:v>
                </c:pt>
                <c:pt idx="2">
                  <c:v>6927.000000</c:v>
                </c:pt>
                <c:pt idx="3">
                  <c:v>1412.000000</c:v>
                </c:pt>
                <c:pt idx="4">
                  <c:v>371.000000</c:v>
                </c:pt>
                <c:pt idx="5">
                  <c:v>282.000000</c:v>
                </c:pt>
              </c:numCache>
            </c:numRef>
          </c:val>
        </c:ser>
        <c:gapWidth val="45"/>
        <c:overlap val="0"/>
        <c:axId val="2094734552"/>
        <c:axId val="2094734553"/>
      </c:barChart>
      <c:catAx>
        <c:axId val="2094734552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5A6678"/>
            </a:solidFill>
            <a:prstDash val="solid"/>
            <a:round/>
          </a:ln>
        </c:spPr>
        <c:txPr>
          <a:bodyPr rot="0"/>
          <a:lstStyle/>
          <a:p>
            <a:pPr>
              <a:defRPr b="0" i="0" strike="noStrike" sz="1100" u="none">
                <a:solidFill>
                  <a:srgbClr val="000000"/>
                </a:solidFill>
                <a:latin typeface="Arial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  <c:max val="50000"/>
        </c:scaling>
        <c:delete val="0"/>
        <c:axPos val="b"/>
        <c:numFmt formatCode="0" sourceLinked="0"/>
        <c:majorTickMark val="out"/>
        <c:minorTickMark val="none"/>
        <c:tickLblPos val="high"/>
        <c:spPr>
          <a:ln w="12700" cap="flat">
            <a:solidFill>
              <a:srgbClr val="5A6678"/>
            </a:solidFill>
            <a:prstDash val="solid"/>
            <a:round/>
          </a:ln>
        </c:spPr>
        <c:txPr>
          <a:bodyPr rot="0"/>
          <a:lstStyle/>
          <a:p>
            <a:pPr>
              <a:defRPr b="0" i="0" strike="noStrike" sz="1800" u="none">
                <a:solidFill>
                  <a:srgbClr val="000000"/>
                </a:solidFill>
                <a:latin typeface="Aptos"/>
              </a:defRPr>
            </a:pPr>
          </a:p>
        </c:txPr>
        <c:crossAx val="2094734552"/>
        <c:crosses val="autoZero"/>
        <c:crossBetween val="between"/>
        <c:majorUnit val="12500"/>
        <c:minorUnit val="6250"/>
      </c:valAx>
      <c:spPr>
        <a:noFill/>
        <a:ln w="12700" cap="flat">
          <a:noFill/>
          <a:miter lim="400000"/>
        </a:ln>
        <a:effectLst/>
      </c:spPr>
    </c:plotArea>
    <c:plotVisOnly val="0"/>
    <c:dispBlanksAs val="gap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62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63" name="Shape 63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Helvetica Neue"/>
      </a:defRPr>
    </a:lvl1pPr>
    <a:lvl2pPr indent="228600" latinLnBrk="0">
      <a:defRPr sz="1200">
        <a:latin typeface="+mj-lt"/>
        <a:ea typeface="+mj-ea"/>
        <a:cs typeface="+mj-cs"/>
        <a:sym typeface="Helvetica Neue"/>
      </a:defRPr>
    </a:lvl2pPr>
    <a:lvl3pPr indent="457200" latinLnBrk="0">
      <a:defRPr sz="1200">
        <a:latin typeface="+mj-lt"/>
        <a:ea typeface="+mj-ea"/>
        <a:cs typeface="+mj-cs"/>
        <a:sym typeface="Helvetica Neue"/>
      </a:defRPr>
    </a:lvl3pPr>
    <a:lvl4pPr indent="685800" latinLnBrk="0">
      <a:defRPr sz="1200">
        <a:latin typeface="+mj-lt"/>
        <a:ea typeface="+mj-ea"/>
        <a:cs typeface="+mj-cs"/>
        <a:sym typeface="Helvetica Neue"/>
      </a:defRPr>
    </a:lvl4pPr>
    <a:lvl5pPr indent="914400" latinLnBrk="0">
      <a:defRPr sz="1200">
        <a:latin typeface="+mj-lt"/>
        <a:ea typeface="+mj-ea"/>
        <a:cs typeface="+mj-cs"/>
        <a:sym typeface="Helvetica Neue"/>
      </a:defRPr>
    </a:lvl5pPr>
    <a:lvl6pPr indent="1143000" latinLnBrk="0">
      <a:defRPr sz="1200">
        <a:latin typeface="+mj-lt"/>
        <a:ea typeface="+mj-ea"/>
        <a:cs typeface="+mj-cs"/>
        <a:sym typeface="Helvetica Neue"/>
      </a:defRPr>
    </a:lvl6pPr>
    <a:lvl7pPr indent="1371600" latinLnBrk="0">
      <a:defRPr sz="1200">
        <a:latin typeface="+mj-lt"/>
        <a:ea typeface="+mj-ea"/>
        <a:cs typeface="+mj-cs"/>
        <a:sym typeface="Helvetica Neue"/>
      </a:defRPr>
    </a:lvl7pPr>
    <a:lvl8pPr indent="1600200" latinLnBrk="0">
      <a:defRPr sz="1200">
        <a:latin typeface="+mj-lt"/>
        <a:ea typeface="+mj-ea"/>
        <a:cs typeface="+mj-cs"/>
        <a:sym typeface="Helvetica Neue"/>
      </a:defRPr>
    </a:lvl8pPr>
    <a:lvl9pPr indent="1828800" latinLnBrk="0">
      <a:defRPr sz="1200">
        <a:latin typeface="+mj-lt"/>
        <a:ea typeface="+mj-ea"/>
        <a:cs typeface="+mj-cs"/>
        <a:sym typeface="Helvetica Neue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7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3" name="Shape 7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Introduce the title and team only (about 15 seconds). GeoTrace turns a Wireshark capture into an animated, protocol-coloured 3D globe with a simple port-scan detector and a packet simulator. Fill in the team names, PRNs, group, panel, batch, faculty and date placeholders on this slide before presenting.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 8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82" name="Shape 8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Problem: packet lists are hard to read. Our system maps flows geographically and flags a simple attack pattern. Scope is offline replay of recorded captures, headers only, IPv4. Six measurable objectives: parse, group/identify, detect, geolocate, visualise, simulate.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hape 11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1" name="Shape 11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Walk left to right: Wireshark records capture.pcapng; build_data.py parses it with scapy, builds flows, applies the port-scan rule and geolocates public IPs through the ip-api.com batch API; results go to data.json; the browser loads it and draws the globe with globe.gl. Private addresses are not looked up. Only scapy is installed with pip.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13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35" name="Shape 13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Four stages in build_data.py. Key design decision: the port-scan rule counts only SYN-without-ACK packets, because counting every packet would wrongly flag servers that reply to many clients on different ephemeral ports. Geolocation is batched (100 IPs, 4.5 s pause to stay under the free rate limit of 15 batch requests per minute) and cached in geo_cache.json so each IP is looked up once.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Shape 15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54" name="Shape 15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All numbers come from frontend/data.json generated from our capture: 76,125 packets over about 271 seconds, 389 flows plotted. Protocol totals are packets in the plotted flows. No scan alert fired, which is expected for ordinary browsing; the port-scan detector is demonstrated with the simulator. Locations are approximate (CDN or data-centre addresses), so country totals show where servers are registered, not user locations.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Shape 18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4" name="Shape 18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Prepare before the timer starts. Keep a screenshot or short recording ready as backup and say so if used. Demo order: replay with real data (30 s), then simulator: Normal packet, Lost packet with retransmit on, then port-scan pattern (35 s). Lost packets stop at a random point between 35% and 65% of the route; up to 3 retransmission attempts.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Shape 19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1" name="Shape 19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Wrap up: headers alone are enough to see where traffic goes, which services are used and when behaviour looks suspicious. Limitations: free geolocation service needs internet and has a rate limit; simulator delays are estimates. Ethics: public IPs are sent to ip-api.com during the build; scan only systems you own or have written permission to test. Fill in the team contributions and AI-use lines before presenting.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Shape 19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9" name="Shape 19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Backup slide for questions.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914400" y="2590800"/>
            <a:ext cx="7315200" cy="990600"/>
          </a:xfrm>
          <a:prstGeom prst="rect">
            <a:avLst/>
          </a:prstGeom>
        </p:spPr>
        <p:txBody>
          <a:bodyPr anchor="ctr"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771900"/>
            <a:ext cx="6400800" cy="762000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0"/>
              </a:spcBef>
              <a:buSzTx/>
              <a:buNone/>
            </a:lvl1pPr>
            <a:lvl2pPr marL="0" indent="0">
              <a:spcBef>
                <a:spcPts val="0"/>
              </a:spcBef>
              <a:buSzTx/>
              <a:buNone/>
            </a:lvl2pPr>
            <a:lvl3pPr marL="0" indent="0">
              <a:spcBef>
                <a:spcPts val="0"/>
              </a:spcBef>
              <a:buSzTx/>
              <a:buNone/>
            </a:lvl3pPr>
            <a:lvl4pPr marL="0" indent="0">
              <a:spcBef>
                <a:spcPts val="0"/>
              </a:spcBef>
              <a:buSzTx/>
              <a:buNone/>
            </a:lvl4pPr>
            <a:lvl5pPr marL="0" indent="0">
              <a:spcBef>
                <a:spcPts val="0"/>
              </a:spcBef>
              <a:buSzTx/>
              <a:buNone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xfrm>
            <a:off x="914400" y="2857500"/>
            <a:ext cx="7315200" cy="1143000"/>
          </a:xfrm>
          <a:prstGeom prst="rect">
            <a:avLst/>
          </a:prstGeom>
        </p:spPr>
        <p:txBody>
          <a:bodyPr anchor="ctr"/>
          <a:lstStyle/>
          <a:p>
            <a:pPr/>
            <a:r>
              <a:t>Title Text</a:t>
            </a:r>
          </a:p>
        </p:txBody>
      </p:sp>
      <p:sp>
        <p:nvSpPr>
          <p:cNvPr id="2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9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8" name="Body Level One…"/>
          <p:cNvSpPr txBox="1"/>
          <p:nvPr>
            <p:ph type="body" sz="half" idx="1"/>
          </p:nvPr>
        </p:nvSpPr>
        <p:spPr>
          <a:xfrm>
            <a:off x="514350" y="1905000"/>
            <a:ext cx="3771900" cy="4267200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9" name="Right column"/>
          <p:cNvSpPr/>
          <p:nvPr>
            <p:ph type="body" sz="half" idx="21"/>
          </p:nvPr>
        </p:nvSpPr>
        <p:spPr>
          <a:xfrm>
            <a:off x="4857750" y="1905000"/>
            <a:ext cx="3771900" cy="42672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half" idx="1"/>
          </p:nvPr>
        </p:nvSpPr>
        <p:spPr>
          <a:xfrm>
            <a:off x="514350" y="1905000"/>
            <a:ext cx="3771900" cy="4267200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514350" y="533400"/>
            <a:ext cx="8115300" cy="838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514350" y="1905000"/>
            <a:ext cx="8115300" cy="426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4419600" y="6172200"/>
            <a:ext cx="21336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 xmlns:p14="http://schemas.microsoft.com/office/powerpoint/2010/main" spd="med" advClick="1"/>
  <p:txStyles>
    <p:titleStyle>
      <a:lvl1pPr marL="0" marR="0" indent="0" algn="l" defTabSz="914400" latinLnBrk="0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"/>
          <a:ea typeface="Aptos"/>
          <a:cs typeface="Aptos"/>
          <a:sym typeface="Aptos"/>
        </a:defRPr>
      </a:lvl1pPr>
      <a:lvl2pPr marL="0" marR="0" indent="0" algn="l" defTabSz="914400" latinLnBrk="0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"/>
          <a:ea typeface="Aptos"/>
          <a:cs typeface="Aptos"/>
          <a:sym typeface="Aptos"/>
        </a:defRPr>
      </a:lvl2pPr>
      <a:lvl3pPr marL="0" marR="0" indent="0" algn="l" defTabSz="914400" latinLnBrk="0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"/>
          <a:ea typeface="Aptos"/>
          <a:cs typeface="Aptos"/>
          <a:sym typeface="Aptos"/>
        </a:defRPr>
      </a:lvl3pPr>
      <a:lvl4pPr marL="0" marR="0" indent="0" algn="l" defTabSz="914400" latinLnBrk="0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"/>
          <a:ea typeface="Aptos"/>
          <a:cs typeface="Aptos"/>
          <a:sym typeface="Aptos"/>
        </a:defRPr>
      </a:lvl4pPr>
      <a:lvl5pPr marL="0" marR="0" indent="0" algn="l" defTabSz="914400" latinLnBrk="0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"/>
          <a:ea typeface="Aptos"/>
          <a:cs typeface="Aptos"/>
          <a:sym typeface="Aptos"/>
        </a:defRPr>
      </a:lvl5pPr>
      <a:lvl6pPr marL="0" marR="0" indent="0" algn="l" defTabSz="914400" latinLnBrk="0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"/>
          <a:ea typeface="Aptos"/>
          <a:cs typeface="Aptos"/>
          <a:sym typeface="Aptos"/>
        </a:defRPr>
      </a:lvl6pPr>
      <a:lvl7pPr marL="0" marR="0" indent="0" algn="l" defTabSz="914400" latinLnBrk="0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"/>
          <a:ea typeface="Aptos"/>
          <a:cs typeface="Aptos"/>
          <a:sym typeface="Aptos"/>
        </a:defRPr>
      </a:lvl7pPr>
      <a:lvl8pPr marL="0" marR="0" indent="0" algn="l" defTabSz="914400" latinLnBrk="0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"/>
          <a:ea typeface="Aptos"/>
          <a:cs typeface="Aptos"/>
          <a:sym typeface="Aptos"/>
        </a:defRPr>
      </a:lvl8pPr>
      <a:lvl9pPr marL="0" marR="0" indent="0" algn="l" defTabSz="914400" latinLnBrk="0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"/>
          <a:ea typeface="Aptos"/>
          <a:cs typeface="Aptos"/>
          <a:sym typeface="Aptos"/>
        </a:defRPr>
      </a:lvl9pPr>
    </p:titleStyle>
    <p:bodyStyle>
      <a:lvl1pPr marL="171450" marR="0" indent="-171450" algn="l" defTabSz="914400" rtl="0" latinLnBrk="0">
        <a:lnSpc>
          <a:spcPct val="110000"/>
        </a:lnSpc>
        <a:spcBef>
          <a:spcPts val="9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Aptos"/>
          <a:ea typeface="Aptos"/>
          <a:cs typeface="Aptos"/>
          <a:sym typeface="Aptos"/>
        </a:defRPr>
      </a:lvl1pPr>
      <a:lvl2pPr marL="428625" marR="0" indent="-200025" algn="l" defTabSz="914400" rtl="0" latinLnBrk="0">
        <a:lnSpc>
          <a:spcPct val="110000"/>
        </a:lnSpc>
        <a:spcBef>
          <a:spcPts val="9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Aptos"/>
          <a:ea typeface="Aptos"/>
          <a:cs typeface="Aptos"/>
          <a:sym typeface="Aptos"/>
        </a:defRPr>
      </a:lvl2pPr>
      <a:lvl3pPr marL="697230" marR="0" indent="-240030" algn="l" defTabSz="914400" rtl="0" latinLnBrk="0">
        <a:lnSpc>
          <a:spcPct val="110000"/>
        </a:lnSpc>
        <a:spcBef>
          <a:spcPts val="9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Aptos"/>
          <a:ea typeface="Aptos"/>
          <a:cs typeface="Aptos"/>
          <a:sym typeface="Aptos"/>
        </a:defRPr>
      </a:lvl3pPr>
      <a:lvl4pPr marL="952500" marR="0" indent="-266700" algn="l" defTabSz="914400" rtl="0" latinLnBrk="0">
        <a:lnSpc>
          <a:spcPct val="110000"/>
        </a:lnSpc>
        <a:spcBef>
          <a:spcPts val="9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Aptos"/>
          <a:ea typeface="Aptos"/>
          <a:cs typeface="Aptos"/>
          <a:sym typeface="Aptos"/>
        </a:defRPr>
      </a:lvl4pPr>
      <a:lvl5pPr marL="1181100" marR="0" indent="-266700" algn="l" defTabSz="914400" rtl="0" latinLnBrk="0">
        <a:lnSpc>
          <a:spcPct val="110000"/>
        </a:lnSpc>
        <a:spcBef>
          <a:spcPts val="9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Aptos"/>
          <a:ea typeface="Aptos"/>
          <a:cs typeface="Aptos"/>
          <a:sym typeface="Aptos"/>
        </a:defRPr>
      </a:lvl5pPr>
      <a:lvl6pPr marL="1409700" marR="0" indent="-266700" algn="l" defTabSz="914400" rtl="0" latinLnBrk="0">
        <a:lnSpc>
          <a:spcPct val="110000"/>
        </a:lnSpc>
        <a:spcBef>
          <a:spcPts val="9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Aptos"/>
          <a:ea typeface="Aptos"/>
          <a:cs typeface="Aptos"/>
          <a:sym typeface="Aptos"/>
        </a:defRPr>
      </a:lvl6pPr>
      <a:lvl7pPr marL="1638300" marR="0" indent="-266700" algn="l" defTabSz="914400" rtl="0" latinLnBrk="0">
        <a:lnSpc>
          <a:spcPct val="110000"/>
        </a:lnSpc>
        <a:spcBef>
          <a:spcPts val="9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Aptos"/>
          <a:ea typeface="Aptos"/>
          <a:cs typeface="Aptos"/>
          <a:sym typeface="Aptos"/>
        </a:defRPr>
      </a:lvl7pPr>
      <a:lvl8pPr marL="1866900" marR="0" indent="-266700" algn="l" defTabSz="914400" rtl="0" latinLnBrk="0">
        <a:lnSpc>
          <a:spcPct val="110000"/>
        </a:lnSpc>
        <a:spcBef>
          <a:spcPts val="9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Aptos"/>
          <a:ea typeface="Aptos"/>
          <a:cs typeface="Aptos"/>
          <a:sym typeface="Aptos"/>
        </a:defRPr>
      </a:lvl8pPr>
      <a:lvl9pPr marL="2095500" marR="0" indent="-266700" algn="l" defTabSz="914400" rtl="0" latinLnBrk="0">
        <a:lnSpc>
          <a:spcPct val="110000"/>
        </a:lnSpc>
        <a:spcBef>
          <a:spcPts val="9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Aptos"/>
          <a:ea typeface="Aptos"/>
          <a:cs typeface="Aptos"/>
          <a:sym typeface="Aptos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8"/>
          <p:cNvSpPr txBox="1"/>
          <p:nvPr/>
        </p:nvSpPr>
        <p:spPr>
          <a:xfrm>
            <a:off x="569594" y="1627728"/>
            <a:ext cx="8004812" cy="792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spcBef>
                <a:spcPts val="400"/>
              </a:spcBef>
              <a:defRPr b="1" sz="2400">
                <a:solidFill>
                  <a:srgbClr val="20375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GeoTrace: Network Traffic Geolocation and Visualization on a 3D Globe</a:t>
            </a:r>
          </a:p>
        </p:txBody>
      </p:sp>
      <p:sp>
        <p:nvSpPr>
          <p:cNvPr id="66" name="Rectangle 1"/>
          <p:cNvSpPr txBox="1"/>
          <p:nvPr/>
        </p:nvSpPr>
        <p:spPr>
          <a:xfrm>
            <a:off x="569594" y="6315075"/>
            <a:ext cx="5814062" cy="2392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Computer Networks Laboratory   CSE20110</a:t>
            </a:r>
          </a:p>
        </p:txBody>
      </p:sp>
      <p:pic>
        <p:nvPicPr>
          <p:cNvPr id="67" name="Picture 3" descr="Picture 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916646" y="349624"/>
            <a:ext cx="3310708" cy="952501"/>
          </a:xfrm>
          <a:prstGeom prst="rect">
            <a:avLst/>
          </a:prstGeom>
          <a:ln w="12700">
            <a:miter lim="400000"/>
          </a:ln>
        </p:spPr>
      </p:pic>
      <p:sp>
        <p:nvSpPr>
          <p:cNvPr id="68" name="Rectangle 4"/>
          <p:cNvSpPr txBox="1"/>
          <p:nvPr/>
        </p:nvSpPr>
        <p:spPr>
          <a:xfrm>
            <a:off x="569594" y="2667000"/>
            <a:ext cx="8004812" cy="3629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900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Mini-project presentation</a:t>
            </a:r>
          </a:p>
        </p:txBody>
      </p:sp>
      <p:sp>
        <p:nvSpPr>
          <p:cNvPr id="69" name="Rectangle 5"/>
          <p:cNvSpPr txBox="1"/>
          <p:nvPr/>
        </p:nvSpPr>
        <p:spPr>
          <a:xfrm>
            <a:off x="569594" y="3143250"/>
            <a:ext cx="8004812" cy="5419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600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Computer Networks Laboratory (CSE20110)</a:t>
            </a:r>
          </a:p>
          <a:p>
            <a:pPr algn="ctr">
              <a:defRPr sz="1600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Department of Computer Engineering and Technology</a:t>
            </a:r>
          </a:p>
        </p:txBody>
      </p:sp>
      <p:sp>
        <p:nvSpPr>
          <p:cNvPr id="70" name="Rectangle 6"/>
          <p:cNvSpPr txBox="1"/>
          <p:nvPr/>
        </p:nvSpPr>
        <p:spPr>
          <a:xfrm>
            <a:off x="569594" y="4095750"/>
            <a:ext cx="8004812" cy="5170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500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Rohan Khalate - 1262243741    Harshit Sharma - 1262242285</a:t>
            </a:r>
          </a:p>
          <a:p>
            <a:pPr algn="ctr">
              <a:defRPr sz="1500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Aditya Pillai - 1262242326     Yashowardhan Bhosale - 1262240695</a:t>
            </a:r>
          </a:p>
        </p:txBody>
      </p:sp>
      <p:sp>
        <p:nvSpPr>
          <p:cNvPr id="71" name="Rectangle 7"/>
          <p:cNvSpPr txBox="1"/>
          <p:nvPr/>
        </p:nvSpPr>
        <p:spPr>
          <a:xfrm>
            <a:off x="569594" y="5095875"/>
            <a:ext cx="8004812" cy="9488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500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Group [No.] - 6  Panel [</a:t>
            </a:r>
            <a:r>
              <a:t>K</a:t>
            </a:r>
            <a:r>
              <a:t>]   Batch [k]</a:t>
            </a:r>
          </a:p>
          <a:p>
            <a:pPr algn="ctr">
              <a:defRPr sz="1500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Faculty: </a:t>
            </a:r>
            <a:r>
              <a:t>Dr. Uma Pujari</a:t>
            </a:r>
          </a:p>
          <a:p>
            <a:pPr algn="ctr">
              <a:defRPr sz="1500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Academic Year: 2026–2027   </a:t>
            </a:r>
          </a:p>
          <a:p>
            <a:pPr algn="ctr">
              <a:defRPr sz="1500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Presentation date: 19/10/26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7"/>
          <p:cNvSpPr txBox="1"/>
          <p:nvPr/>
        </p:nvSpPr>
        <p:spPr>
          <a:xfrm>
            <a:off x="569594" y="400050"/>
            <a:ext cx="8004812" cy="4493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2500">
                <a:solidFill>
                  <a:srgbClr val="20375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Problem and Objectives</a:t>
            </a:r>
          </a:p>
        </p:txBody>
      </p:sp>
      <p:sp>
        <p:nvSpPr>
          <p:cNvPr id="76" name="Rectangle 1"/>
          <p:cNvSpPr txBox="1"/>
          <p:nvPr/>
        </p:nvSpPr>
        <p:spPr>
          <a:xfrm>
            <a:off x="569594" y="6315075"/>
            <a:ext cx="5814062" cy="2392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Computer Networks Laboratory   CSE20110</a:t>
            </a:r>
          </a:p>
        </p:txBody>
      </p:sp>
      <p:sp>
        <p:nvSpPr>
          <p:cNvPr id="77" name="Rectangle 3"/>
          <p:cNvSpPr txBox="1"/>
          <p:nvPr/>
        </p:nvSpPr>
        <p:spPr>
          <a:xfrm>
            <a:off x="569594" y="1333500"/>
            <a:ext cx="8004812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Problem</a:t>
            </a:r>
          </a:p>
        </p:txBody>
      </p:sp>
      <p:sp>
        <p:nvSpPr>
          <p:cNvPr id="78" name="Rectangle 4"/>
          <p:cNvSpPr txBox="1"/>
          <p:nvPr/>
        </p:nvSpPr>
        <p:spPr>
          <a:xfrm>
            <a:off x="569594" y="1699999"/>
            <a:ext cx="8004812" cy="9492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400"/>
              </a:spcBef>
              <a:defRPr sz="1400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Raw traffic is a long list of packets and IP addresses; it does not show </a:t>
            </a:r>
            <a:r>
              <a:rPr b="1"/>
              <a:t>where</a:t>
            </a:r>
            <a:r>
              <a:t> traffic goes, which protocols are used, or when behaviour turns abnormal.</a:t>
            </a:r>
          </a:p>
          <a:p>
            <a:pPr>
              <a:spcBef>
                <a:spcPts val="400"/>
              </a:spcBef>
              <a:defRPr sz="1400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Needed by students and network administrators; scope: offline analysis of a recorded .pcapng capture (IPv4, headers only).</a:t>
            </a:r>
          </a:p>
        </p:txBody>
      </p:sp>
      <p:sp>
        <p:nvSpPr>
          <p:cNvPr id="79" name="Rectangle 5"/>
          <p:cNvSpPr txBox="1"/>
          <p:nvPr/>
        </p:nvSpPr>
        <p:spPr>
          <a:xfrm>
            <a:off x="569594" y="3149999"/>
            <a:ext cx="8004812" cy="3506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Objectives</a:t>
            </a:r>
          </a:p>
        </p:txBody>
      </p:sp>
      <p:sp>
        <p:nvSpPr>
          <p:cNvPr id="80" name="Rectangle 6"/>
          <p:cNvSpPr txBox="1"/>
          <p:nvPr/>
        </p:nvSpPr>
        <p:spPr>
          <a:xfrm>
            <a:off x="569594" y="3599999"/>
            <a:ext cx="8004812" cy="18255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500"/>
              </a:spcBef>
              <a:defRPr sz="1400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1. Capture traffic with Wireshark (.pcapng) and parse source/destination IP, ports, protocol, size, time</a:t>
            </a:r>
          </a:p>
          <a:p>
            <a:pPr>
              <a:spcBef>
                <a:spcPts val="500"/>
              </a:spcBef>
              <a:defRPr sz="1400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2. Group packets into flows; identify protocol from port (443 HTTPS, 80 HTTP, 53 DNS)</a:t>
            </a:r>
          </a:p>
          <a:p>
            <a:pPr>
              <a:spcBef>
                <a:spcPts val="500"/>
              </a:spcBef>
              <a:defRPr sz="1400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3. Detect port scans with a threshold rule (20+ ports in 10 s)</a:t>
            </a:r>
          </a:p>
          <a:p>
            <a:pPr>
              <a:spcBef>
                <a:spcPts val="500"/>
              </a:spcBef>
              <a:defRPr sz="1400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4. Convert public IPs to latitude, longitude and country</a:t>
            </a:r>
          </a:p>
          <a:p>
            <a:pPr>
              <a:spcBef>
                <a:spcPts val="500"/>
              </a:spcBef>
              <a:defRPr sz="1400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5. Render animated, protocol-coloured arcs on a 3D globe with live statistics and alerts</a:t>
            </a:r>
          </a:p>
          <a:p>
            <a:pPr>
              <a:spcBef>
                <a:spcPts val="500"/>
              </a:spcBef>
              <a:defRPr sz="1400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6. Demonstrate normal delivery, packet loss with retransmission, and attack traffic in a simulator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 5"/>
          <p:cNvSpPr txBox="1"/>
          <p:nvPr/>
        </p:nvSpPr>
        <p:spPr>
          <a:xfrm>
            <a:off x="569594" y="400050"/>
            <a:ext cx="8004812" cy="4493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2500">
                <a:solidFill>
                  <a:srgbClr val="20375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Proposed Design and Tools</a:t>
            </a:r>
          </a:p>
        </p:txBody>
      </p:sp>
      <p:sp>
        <p:nvSpPr>
          <p:cNvPr id="85" name="Rectangle 1"/>
          <p:cNvSpPr txBox="1"/>
          <p:nvPr/>
        </p:nvSpPr>
        <p:spPr>
          <a:xfrm>
            <a:off x="569594" y="6315075"/>
            <a:ext cx="5814062" cy="2392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Computer Networks Laboratory   CSE20110</a:t>
            </a:r>
          </a:p>
        </p:txBody>
      </p:sp>
      <p:sp>
        <p:nvSpPr>
          <p:cNvPr id="86" name="Rectangle 4"/>
          <p:cNvSpPr txBox="1"/>
          <p:nvPr/>
        </p:nvSpPr>
        <p:spPr>
          <a:xfrm>
            <a:off x="569594" y="4050000"/>
            <a:ext cx="8004812" cy="1634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000"/>
              </a:spcBef>
              <a:defRPr b="1" sz="1500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Tools: </a:t>
            </a:r>
            <a:r>
              <a:rPr b="0"/>
              <a:t>Wireshark + Npcap, Python 3 with scapy, ip-api.com, globe.gl (Three.js / WebGL), HTML/CSS/JS</a:t>
            </a:r>
            <a:endParaRPr b="0"/>
          </a:p>
          <a:p>
            <a:pPr>
              <a:spcBef>
                <a:spcPts val="1000"/>
              </a:spcBef>
              <a:defRPr b="1" sz="1500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Protocols: </a:t>
            </a:r>
            <a:r>
              <a:rPr b="0"/>
              <a:t>TCP, UDP, ICMP read from IP headers; DNS (53), HTTP (80), HTTPS (443) inferred from ports; HTTP serves the front end</a:t>
            </a:r>
            <a:endParaRPr b="0"/>
          </a:p>
          <a:p>
            <a:pPr>
              <a:spcBef>
                <a:spcPts val="1000"/>
              </a:spcBef>
              <a:defRPr b="1" sz="1500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Addressing: </a:t>
            </a:r>
            <a:r>
              <a:rPr b="0"/>
              <a:t>private ranges 10/8, 172.16/12, 192.168/16 are drawn at a home location; only public IPs are geolocated; page served at localhost:8000</a:t>
            </a:r>
          </a:p>
        </p:txBody>
      </p:sp>
      <p:grpSp>
        <p:nvGrpSpPr>
          <p:cNvPr id="89" name="Stage 1"/>
          <p:cNvGrpSpPr/>
          <p:nvPr/>
        </p:nvGrpSpPr>
        <p:grpSpPr>
          <a:xfrm>
            <a:off x="523875" y="1330000"/>
            <a:ext cx="1650001" cy="1500001"/>
            <a:chOff x="0" y="0"/>
            <a:chExt cx="1650000" cy="1500000"/>
          </a:xfrm>
        </p:grpSpPr>
        <p:sp>
          <p:nvSpPr>
            <p:cNvPr id="87" name="Rounded Rectangle"/>
            <p:cNvSpPr/>
            <p:nvPr/>
          </p:nvSpPr>
          <p:spPr>
            <a:xfrm>
              <a:off x="0" y="0"/>
              <a:ext cx="1650001" cy="1500001"/>
            </a:xfrm>
            <a:prstGeom prst="roundRect">
              <a:avLst>
                <a:gd name="adj" fmla="val 8000"/>
              </a:avLst>
            </a:prstGeom>
            <a:solidFill>
              <a:srgbClr val="EAF0F8"/>
            </a:solidFill>
            <a:ln w="12700" cap="flat">
              <a:solidFill>
                <a:srgbClr val="20375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88" name="Wireshark + Npcap…"/>
            <p:cNvSpPr txBox="1"/>
            <p:nvPr/>
          </p:nvSpPr>
          <p:spPr>
            <a:xfrm>
              <a:off x="71497" y="480985"/>
              <a:ext cx="1507006" cy="5380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30000" tIns="30000" rIns="30000" bIns="30000" numCol="1" anchor="ctr">
              <a:spAutoFit/>
            </a:bodyPr>
            <a:lstStyle/>
            <a:p>
              <a:pPr algn="ctr">
                <a:defRPr b="1" sz="1200">
                  <a:solidFill>
                    <a:srgbClr val="202020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Wireshark + Npcap</a:t>
              </a:r>
              <a:endParaRPr>
                <a:solidFill>
                  <a:srgbClr val="FFFFFF"/>
                </a:solidFill>
              </a:endParaRPr>
            </a:p>
            <a:p>
              <a:pPr algn="ctr">
                <a:defRPr sz="1100">
                  <a:solidFill>
                    <a:srgbClr val="202020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capture.pcapng</a:t>
              </a:r>
              <a:endParaRPr>
                <a:solidFill>
                  <a:srgbClr val="FFFFFF"/>
                </a:solidFill>
              </a:endParaRPr>
            </a:p>
            <a:p>
              <a:pPr algn="ctr">
                <a:defRPr sz="1100">
                  <a:solidFill>
                    <a:srgbClr val="202020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raw packets</a:t>
              </a:r>
            </a:p>
          </p:txBody>
        </p:sp>
      </p:grpSp>
      <p:sp>
        <p:nvSpPr>
          <p:cNvPr id="90" name="Connector 7"/>
          <p:cNvSpPr/>
          <p:nvPr/>
        </p:nvSpPr>
        <p:spPr>
          <a:xfrm>
            <a:off x="2203874" y="2079999"/>
            <a:ext cx="440000" cy="1"/>
          </a:xfrm>
          <a:prstGeom prst="line">
            <a:avLst/>
          </a:prstGeom>
          <a:ln w="22225">
            <a:solidFill>
              <a:srgbClr val="20375C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grpSp>
        <p:nvGrpSpPr>
          <p:cNvPr id="93" name="Stage 2"/>
          <p:cNvGrpSpPr/>
          <p:nvPr/>
        </p:nvGrpSpPr>
        <p:grpSpPr>
          <a:xfrm>
            <a:off x="2673874" y="1330000"/>
            <a:ext cx="1650002" cy="1500001"/>
            <a:chOff x="0" y="0"/>
            <a:chExt cx="1650000" cy="1500000"/>
          </a:xfrm>
        </p:grpSpPr>
        <p:sp>
          <p:nvSpPr>
            <p:cNvPr id="91" name="Rounded Rectangle"/>
            <p:cNvSpPr/>
            <p:nvPr/>
          </p:nvSpPr>
          <p:spPr>
            <a:xfrm>
              <a:off x="0" y="0"/>
              <a:ext cx="1650001" cy="1500001"/>
            </a:xfrm>
            <a:prstGeom prst="roundRect">
              <a:avLst>
                <a:gd name="adj" fmla="val 8000"/>
              </a:avLst>
            </a:prstGeom>
            <a:solidFill>
              <a:srgbClr val="20375C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92" name="build_data.py…"/>
            <p:cNvSpPr txBox="1"/>
            <p:nvPr/>
          </p:nvSpPr>
          <p:spPr>
            <a:xfrm>
              <a:off x="65147" y="404785"/>
              <a:ext cx="1519706" cy="6904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30000" tIns="30000" rIns="30000" bIns="30000" numCol="1" anchor="ctr">
              <a:spAutoFit/>
            </a:bodyPr>
            <a:lstStyle/>
            <a:p>
              <a:pPr algn="ctr">
                <a:defRPr b="1" sz="12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build_data.py</a:t>
              </a:r>
            </a:p>
            <a:p>
              <a:pPr algn="ctr">
                <a:defRPr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scapy parse → flows</a:t>
              </a:r>
            </a:p>
            <a:p>
              <a:pPr algn="ctr">
                <a:defRPr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port-scan rule</a:t>
              </a:r>
            </a:p>
            <a:p>
              <a:pPr algn="ctr">
                <a:defRPr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geolocation</a:t>
              </a:r>
            </a:p>
          </p:txBody>
        </p:sp>
      </p:grpSp>
      <p:sp>
        <p:nvSpPr>
          <p:cNvPr id="94" name="Connector 9"/>
          <p:cNvSpPr/>
          <p:nvPr/>
        </p:nvSpPr>
        <p:spPr>
          <a:xfrm>
            <a:off x="4353874" y="2079999"/>
            <a:ext cx="440000" cy="1"/>
          </a:xfrm>
          <a:prstGeom prst="line">
            <a:avLst/>
          </a:prstGeom>
          <a:ln w="22225">
            <a:solidFill>
              <a:srgbClr val="20375C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grpSp>
        <p:nvGrpSpPr>
          <p:cNvPr id="97" name="Stage 3"/>
          <p:cNvGrpSpPr/>
          <p:nvPr/>
        </p:nvGrpSpPr>
        <p:grpSpPr>
          <a:xfrm>
            <a:off x="4823874" y="1330000"/>
            <a:ext cx="1650001" cy="1500001"/>
            <a:chOff x="0" y="0"/>
            <a:chExt cx="1650000" cy="1500000"/>
          </a:xfrm>
        </p:grpSpPr>
        <p:sp>
          <p:nvSpPr>
            <p:cNvPr id="95" name="Rounded Rectangle"/>
            <p:cNvSpPr/>
            <p:nvPr/>
          </p:nvSpPr>
          <p:spPr>
            <a:xfrm>
              <a:off x="0" y="0"/>
              <a:ext cx="1650001" cy="1500001"/>
            </a:xfrm>
            <a:prstGeom prst="roundRect">
              <a:avLst>
                <a:gd name="adj" fmla="val 8000"/>
              </a:avLst>
            </a:prstGeom>
            <a:solidFill>
              <a:srgbClr val="EAF0F8"/>
            </a:solidFill>
            <a:ln w="12700" cap="flat">
              <a:solidFill>
                <a:srgbClr val="20375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96" name="data.json…"/>
            <p:cNvSpPr txBox="1"/>
            <p:nvPr/>
          </p:nvSpPr>
          <p:spPr>
            <a:xfrm>
              <a:off x="71497" y="480985"/>
              <a:ext cx="1507006" cy="5380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30000" tIns="30000" rIns="30000" bIns="30000" numCol="1" anchor="ctr">
              <a:spAutoFit/>
            </a:bodyPr>
            <a:lstStyle/>
            <a:p>
              <a:pPr algn="ctr">
                <a:defRPr b="1" sz="1200">
                  <a:solidFill>
                    <a:srgbClr val="202020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data.json</a:t>
              </a:r>
              <a:endParaRPr>
                <a:solidFill>
                  <a:srgbClr val="FFFFFF"/>
                </a:solidFill>
              </a:endParaRPr>
            </a:p>
            <a:p>
              <a:pPr algn="ctr">
                <a:defRPr sz="1100">
                  <a:solidFill>
                    <a:srgbClr val="202020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arcs, alerts,</a:t>
              </a:r>
              <a:endParaRPr>
                <a:solidFill>
                  <a:srgbClr val="FFFFFF"/>
                </a:solidFill>
              </a:endParaRPr>
            </a:p>
            <a:p>
              <a:pPr algn="ctr">
                <a:defRPr sz="1100">
                  <a:solidFill>
                    <a:srgbClr val="202020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statistics</a:t>
              </a:r>
            </a:p>
          </p:txBody>
        </p:sp>
      </p:grpSp>
      <p:sp>
        <p:nvSpPr>
          <p:cNvPr id="98" name="Connector 11"/>
          <p:cNvSpPr/>
          <p:nvPr/>
        </p:nvSpPr>
        <p:spPr>
          <a:xfrm>
            <a:off x="6503875" y="2079999"/>
            <a:ext cx="440000" cy="1"/>
          </a:xfrm>
          <a:prstGeom prst="line">
            <a:avLst/>
          </a:prstGeom>
          <a:ln w="22225">
            <a:solidFill>
              <a:srgbClr val="20375C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grpSp>
        <p:nvGrpSpPr>
          <p:cNvPr id="101" name="Stage 4"/>
          <p:cNvGrpSpPr/>
          <p:nvPr/>
        </p:nvGrpSpPr>
        <p:grpSpPr>
          <a:xfrm>
            <a:off x="6973875" y="1330000"/>
            <a:ext cx="1650001" cy="1500001"/>
            <a:chOff x="0" y="0"/>
            <a:chExt cx="1650000" cy="1500000"/>
          </a:xfrm>
        </p:grpSpPr>
        <p:sp>
          <p:nvSpPr>
            <p:cNvPr id="99" name="Rounded Rectangle"/>
            <p:cNvSpPr/>
            <p:nvPr/>
          </p:nvSpPr>
          <p:spPr>
            <a:xfrm>
              <a:off x="0" y="0"/>
              <a:ext cx="1650001" cy="1500001"/>
            </a:xfrm>
            <a:prstGeom prst="roundRect">
              <a:avLst>
                <a:gd name="adj" fmla="val 8000"/>
              </a:avLst>
            </a:prstGeom>
            <a:solidFill>
              <a:srgbClr val="EAF0F8"/>
            </a:solidFill>
            <a:ln w="12700" cap="flat">
              <a:solidFill>
                <a:srgbClr val="20375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00" name="Browser…"/>
            <p:cNvSpPr txBox="1"/>
            <p:nvPr/>
          </p:nvSpPr>
          <p:spPr>
            <a:xfrm>
              <a:off x="71497" y="480985"/>
              <a:ext cx="1507006" cy="5380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30000" tIns="30000" rIns="30000" bIns="30000" numCol="1" anchor="ctr">
              <a:spAutoFit/>
            </a:bodyPr>
            <a:lstStyle/>
            <a:p>
              <a:pPr algn="ctr">
                <a:defRPr b="1" sz="1200">
                  <a:solidFill>
                    <a:srgbClr val="202020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Browser</a:t>
              </a:r>
              <a:endParaRPr>
                <a:solidFill>
                  <a:srgbClr val="FFFFFF"/>
                </a:solidFill>
              </a:endParaRPr>
            </a:p>
            <a:p>
              <a:pPr algn="ctr">
                <a:defRPr sz="1100">
                  <a:solidFill>
                    <a:srgbClr val="202020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index.html + globe.gl</a:t>
              </a:r>
              <a:endParaRPr>
                <a:solidFill>
                  <a:srgbClr val="FFFFFF"/>
                </a:solidFill>
              </a:endParaRPr>
            </a:p>
            <a:p>
              <a:pPr algn="ctr">
                <a:defRPr sz="1100">
                  <a:solidFill>
                    <a:srgbClr val="202020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Replay | Simulator</a:t>
              </a:r>
            </a:p>
          </p:txBody>
        </p:sp>
      </p:grpSp>
      <p:grpSp>
        <p:nvGrpSpPr>
          <p:cNvPr id="104" name="Geo service"/>
          <p:cNvGrpSpPr/>
          <p:nvPr/>
        </p:nvGrpSpPr>
        <p:grpSpPr>
          <a:xfrm>
            <a:off x="2673874" y="2949999"/>
            <a:ext cx="1650002" cy="480001"/>
            <a:chOff x="0" y="0"/>
            <a:chExt cx="1650000" cy="480000"/>
          </a:xfrm>
        </p:grpSpPr>
        <p:sp>
          <p:nvSpPr>
            <p:cNvPr id="102" name="Rounded Rectangle"/>
            <p:cNvSpPr/>
            <p:nvPr/>
          </p:nvSpPr>
          <p:spPr>
            <a:xfrm>
              <a:off x="0" y="0"/>
              <a:ext cx="1650001" cy="480001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2700" cap="flat">
              <a:solidFill>
                <a:srgbClr val="1F8AA6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03" name="ip-api.com batch API…"/>
            <p:cNvSpPr txBox="1"/>
            <p:nvPr/>
          </p:nvSpPr>
          <p:spPr>
            <a:xfrm>
              <a:off x="47596" y="66027"/>
              <a:ext cx="1554808" cy="34794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30000" tIns="30000" rIns="30000" bIns="30000" numCol="1" anchor="ctr">
              <a:spAutoFit/>
            </a:bodyPr>
            <a:lstStyle/>
            <a:p>
              <a:pPr algn="ctr">
                <a:defRPr sz="1100">
                  <a:solidFill>
                    <a:srgbClr val="202020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ip-api.com batch API</a:t>
              </a:r>
              <a:endParaRPr>
                <a:solidFill>
                  <a:srgbClr val="FFFFFF"/>
                </a:solidFill>
              </a:endParaRPr>
            </a:p>
            <a:p>
              <a:pPr algn="ctr">
                <a:defRPr sz="1000">
                  <a:solidFill>
                    <a:srgbClr val="202020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cache: geo_cache.json</a:t>
              </a:r>
            </a:p>
          </p:txBody>
        </p:sp>
      </p:grpSp>
      <p:sp>
        <p:nvSpPr>
          <p:cNvPr id="105" name="Connector 14"/>
          <p:cNvSpPr/>
          <p:nvPr/>
        </p:nvSpPr>
        <p:spPr>
          <a:xfrm flipV="1">
            <a:off x="3498875" y="2860000"/>
            <a:ext cx="1" cy="90001"/>
          </a:xfrm>
          <a:prstGeom prst="line">
            <a:avLst/>
          </a:prstGeom>
          <a:ln w="22225">
            <a:solidFill>
              <a:srgbClr val="20375C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grpSp>
        <p:nvGrpSpPr>
          <p:cNvPr id="108" name="Web server"/>
          <p:cNvGrpSpPr/>
          <p:nvPr/>
        </p:nvGrpSpPr>
        <p:grpSpPr>
          <a:xfrm>
            <a:off x="6973875" y="2949999"/>
            <a:ext cx="1650001" cy="480001"/>
            <a:chOff x="0" y="0"/>
            <a:chExt cx="1650000" cy="480000"/>
          </a:xfrm>
        </p:grpSpPr>
        <p:sp>
          <p:nvSpPr>
            <p:cNvPr id="106" name="Rounded Rectangle"/>
            <p:cNvSpPr/>
            <p:nvPr/>
          </p:nvSpPr>
          <p:spPr>
            <a:xfrm>
              <a:off x="0" y="0"/>
              <a:ext cx="1650001" cy="480001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2700" cap="flat">
              <a:solidFill>
                <a:srgbClr val="1F8AA6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07" name="python http.server…"/>
            <p:cNvSpPr txBox="1"/>
            <p:nvPr/>
          </p:nvSpPr>
          <p:spPr>
            <a:xfrm>
              <a:off x="47596" y="66027"/>
              <a:ext cx="1554808" cy="34794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30000" tIns="30000" rIns="30000" bIns="30000" numCol="1" anchor="ctr">
              <a:spAutoFit/>
            </a:bodyPr>
            <a:lstStyle/>
            <a:p>
              <a:pPr algn="ctr">
                <a:defRPr sz="1100">
                  <a:solidFill>
                    <a:srgbClr val="202020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python http.server</a:t>
              </a:r>
              <a:endParaRPr>
                <a:solidFill>
                  <a:srgbClr val="FFFFFF"/>
                </a:solidFill>
              </a:endParaRPr>
            </a:p>
            <a:p>
              <a:pPr algn="ctr">
                <a:defRPr sz="1000">
                  <a:solidFill>
                    <a:srgbClr val="202020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localhost:8000</a:t>
              </a:r>
            </a:p>
          </p:txBody>
        </p:sp>
      </p:grpSp>
      <p:sp>
        <p:nvSpPr>
          <p:cNvPr id="109" name="Connector 16"/>
          <p:cNvSpPr/>
          <p:nvPr/>
        </p:nvSpPr>
        <p:spPr>
          <a:xfrm flipV="1">
            <a:off x="7798875" y="2860000"/>
            <a:ext cx="1" cy="90001"/>
          </a:xfrm>
          <a:prstGeom prst="line">
            <a:avLst/>
          </a:prstGeom>
          <a:ln w="22225">
            <a:solidFill>
              <a:srgbClr val="20375C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Rectangle 5"/>
          <p:cNvSpPr txBox="1"/>
          <p:nvPr/>
        </p:nvSpPr>
        <p:spPr>
          <a:xfrm>
            <a:off x="569594" y="400050"/>
            <a:ext cx="8004812" cy="4493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2500">
                <a:solidFill>
                  <a:srgbClr val="20375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Implementation and Working</a:t>
            </a:r>
          </a:p>
        </p:txBody>
      </p:sp>
      <p:sp>
        <p:nvSpPr>
          <p:cNvPr id="114" name="Rectangle 1"/>
          <p:cNvSpPr txBox="1"/>
          <p:nvPr/>
        </p:nvSpPr>
        <p:spPr>
          <a:xfrm>
            <a:off x="569594" y="6315075"/>
            <a:ext cx="5814062" cy="2392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Computer Networks Laboratory   CSE20110</a:t>
            </a:r>
          </a:p>
        </p:txBody>
      </p:sp>
      <p:sp>
        <p:nvSpPr>
          <p:cNvPr id="115" name="Rectangle 4"/>
          <p:cNvSpPr txBox="1"/>
          <p:nvPr/>
        </p:nvSpPr>
        <p:spPr>
          <a:xfrm>
            <a:off x="569594" y="3799999"/>
            <a:ext cx="8004812" cy="15080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800"/>
              </a:spcBef>
              <a:defRPr b="1" sz="1400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Implementation: </a:t>
            </a:r>
            <a:r>
              <a:rPr b="0"/>
              <a:t>build_data.py (parser, detector, geolocation, data builder) and frontend/index.html (dashboard, globe, replay, simulator). Python standard library plus scapy.</a:t>
            </a:r>
            <a:endParaRPr b="0"/>
          </a:p>
          <a:p>
            <a:pPr>
              <a:spcBef>
                <a:spcPts val="800"/>
              </a:spcBef>
              <a:defRPr b="1" sz="1400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Working: </a:t>
            </a:r>
            <a:r>
              <a:rPr b="0"/>
              <a:t>arcs coloured by protocol (HTTPS blue, HTTP cyan, DNS green, TCP purple, UDP yellow, ICMP orange); scanners red. Hover shows IPs, countries, packets, bytes.</a:t>
            </a:r>
            <a:endParaRPr b="0"/>
          </a:p>
          <a:p>
            <a:pPr>
              <a:spcBef>
                <a:spcPts val="800"/>
              </a:spcBef>
              <a:defRPr b="1" sz="1400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Troubleshooting: </a:t>
            </a:r>
            <a:r>
              <a:rPr b="0"/>
              <a:t>counting every packet falsely flags servers replying to many clients, so only new connections (SYN set, ACK clear) are counted.</a:t>
            </a:r>
          </a:p>
        </p:txBody>
      </p:sp>
      <p:grpSp>
        <p:nvGrpSpPr>
          <p:cNvPr id="118" name="Step 1"/>
          <p:cNvGrpSpPr/>
          <p:nvPr/>
        </p:nvGrpSpPr>
        <p:grpSpPr>
          <a:xfrm>
            <a:off x="523875" y="1330000"/>
            <a:ext cx="1800001" cy="1650001"/>
            <a:chOff x="0" y="0"/>
            <a:chExt cx="1800000" cy="1650000"/>
          </a:xfrm>
        </p:grpSpPr>
        <p:sp>
          <p:nvSpPr>
            <p:cNvPr id="116" name="Rounded Rectangle"/>
            <p:cNvSpPr/>
            <p:nvPr/>
          </p:nvSpPr>
          <p:spPr>
            <a:xfrm>
              <a:off x="0" y="0"/>
              <a:ext cx="1800001" cy="1650001"/>
            </a:xfrm>
            <a:prstGeom prst="roundRect">
              <a:avLst>
                <a:gd name="adj" fmla="val 8000"/>
              </a:avLst>
            </a:prstGeom>
            <a:solidFill>
              <a:srgbClr val="EAF0F8"/>
            </a:solidFill>
            <a:ln w="12700" cap="flat">
              <a:solidFill>
                <a:srgbClr val="20375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17" name="1  Parse…"/>
            <p:cNvSpPr txBox="1"/>
            <p:nvPr/>
          </p:nvSpPr>
          <p:spPr>
            <a:xfrm>
              <a:off x="75011" y="473435"/>
              <a:ext cx="1649978" cy="7031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30000" tIns="30000" rIns="30000" bIns="30000" numCol="1" anchor="ctr">
              <a:spAutoFit/>
            </a:bodyPr>
            <a:lstStyle/>
            <a:p>
              <a:pPr algn="ctr">
                <a:defRPr b="1" sz="1300">
                  <a:solidFill>
                    <a:srgbClr val="202020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1  Parse</a:t>
              </a:r>
              <a:endParaRPr>
                <a:solidFill>
                  <a:srgbClr val="FFFFFF"/>
                </a:solidFill>
              </a:endParaRPr>
            </a:p>
            <a:p>
              <a:pPr algn="ctr">
                <a:defRPr sz="1100">
                  <a:solidFill>
                    <a:srgbClr val="202020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scapy PcapReader streams packets; keep IPv4 headers only</a:t>
              </a:r>
            </a:p>
          </p:txBody>
        </p:sp>
      </p:grpSp>
      <p:sp>
        <p:nvSpPr>
          <p:cNvPr id="119" name="Connector 7"/>
          <p:cNvSpPr/>
          <p:nvPr/>
        </p:nvSpPr>
        <p:spPr>
          <a:xfrm>
            <a:off x="2343874" y="2155000"/>
            <a:ext cx="258751" cy="1"/>
          </a:xfrm>
          <a:prstGeom prst="line">
            <a:avLst/>
          </a:prstGeom>
          <a:ln w="22225">
            <a:solidFill>
              <a:srgbClr val="20375C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grpSp>
        <p:nvGrpSpPr>
          <p:cNvPr id="122" name="Step 2"/>
          <p:cNvGrpSpPr/>
          <p:nvPr/>
        </p:nvGrpSpPr>
        <p:grpSpPr>
          <a:xfrm>
            <a:off x="2622624" y="1330000"/>
            <a:ext cx="1800002" cy="1650001"/>
            <a:chOff x="0" y="0"/>
            <a:chExt cx="1800000" cy="1650000"/>
          </a:xfrm>
        </p:grpSpPr>
        <p:sp>
          <p:nvSpPr>
            <p:cNvPr id="120" name="Rounded Rectangle"/>
            <p:cNvSpPr/>
            <p:nvPr/>
          </p:nvSpPr>
          <p:spPr>
            <a:xfrm>
              <a:off x="0" y="0"/>
              <a:ext cx="1800001" cy="1650001"/>
            </a:xfrm>
            <a:prstGeom prst="roundRect">
              <a:avLst>
                <a:gd name="adj" fmla="val 8000"/>
              </a:avLst>
            </a:prstGeom>
            <a:solidFill>
              <a:srgbClr val="EAF0F8"/>
            </a:solidFill>
            <a:ln w="12700" cap="flat">
              <a:solidFill>
                <a:srgbClr val="20375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21" name="2  Aggregate…"/>
            <p:cNvSpPr txBox="1"/>
            <p:nvPr/>
          </p:nvSpPr>
          <p:spPr>
            <a:xfrm>
              <a:off x="75011" y="397235"/>
              <a:ext cx="1649978" cy="8555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30000" tIns="30000" rIns="30000" bIns="30000" numCol="1" anchor="ctr">
              <a:spAutoFit/>
            </a:bodyPr>
            <a:lstStyle/>
            <a:p>
              <a:pPr algn="ctr">
                <a:defRPr b="1" sz="1300">
                  <a:solidFill>
                    <a:srgbClr val="202020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2  Aggregate</a:t>
              </a:r>
              <a:endParaRPr>
                <a:solidFill>
                  <a:srgbClr val="FFFFFF"/>
                </a:solidFill>
              </a:endParaRPr>
            </a:p>
            <a:p>
              <a:pPr algn="ctr">
                <a:defRPr sz="1100">
                  <a:solidFill>
                    <a:srgbClr val="202020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flow key = (src IP, dst IP, protocol); keep top 400 flows + up to 100 scanner flows</a:t>
              </a:r>
            </a:p>
          </p:txBody>
        </p:sp>
      </p:grpSp>
      <p:sp>
        <p:nvSpPr>
          <p:cNvPr id="123" name="Connector 9"/>
          <p:cNvSpPr/>
          <p:nvPr/>
        </p:nvSpPr>
        <p:spPr>
          <a:xfrm>
            <a:off x="4442624" y="2155000"/>
            <a:ext cx="258751" cy="1"/>
          </a:xfrm>
          <a:prstGeom prst="line">
            <a:avLst/>
          </a:prstGeom>
          <a:ln w="22225">
            <a:solidFill>
              <a:srgbClr val="20375C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grpSp>
        <p:nvGrpSpPr>
          <p:cNvPr id="126" name="Step 3"/>
          <p:cNvGrpSpPr/>
          <p:nvPr/>
        </p:nvGrpSpPr>
        <p:grpSpPr>
          <a:xfrm>
            <a:off x="4721374" y="1330000"/>
            <a:ext cx="1800002" cy="1650001"/>
            <a:chOff x="0" y="0"/>
            <a:chExt cx="1800000" cy="1650000"/>
          </a:xfrm>
        </p:grpSpPr>
        <p:sp>
          <p:nvSpPr>
            <p:cNvPr id="124" name="Rounded Rectangle"/>
            <p:cNvSpPr/>
            <p:nvPr/>
          </p:nvSpPr>
          <p:spPr>
            <a:xfrm>
              <a:off x="0" y="0"/>
              <a:ext cx="1800001" cy="1650001"/>
            </a:xfrm>
            <a:prstGeom prst="roundRect">
              <a:avLst>
                <a:gd name="adj" fmla="val 8000"/>
              </a:avLst>
            </a:prstGeom>
            <a:solidFill>
              <a:srgbClr val="EAF0F8"/>
            </a:solidFill>
            <a:ln w="12700" cap="flat">
              <a:solidFill>
                <a:srgbClr val="20375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25" name="3  Detect…"/>
            <p:cNvSpPr txBox="1"/>
            <p:nvPr/>
          </p:nvSpPr>
          <p:spPr>
            <a:xfrm>
              <a:off x="75011" y="473435"/>
              <a:ext cx="1649978" cy="7031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30000" tIns="30000" rIns="30000" bIns="30000" numCol="1" anchor="ctr">
              <a:spAutoFit/>
            </a:bodyPr>
            <a:lstStyle/>
            <a:p>
              <a:pPr algn="ctr">
                <a:defRPr b="1" sz="1300">
                  <a:solidFill>
                    <a:srgbClr val="202020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3  Detect</a:t>
              </a:r>
              <a:endParaRPr>
                <a:solidFill>
                  <a:srgbClr val="FFFFFF"/>
                </a:solidFill>
              </a:endParaRPr>
            </a:p>
            <a:p>
              <a:pPr algn="ctr">
                <a:defRPr sz="1100">
                  <a:solidFill>
                    <a:srgbClr val="202020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TCP SYN without ACK; ≥ 20 distinct ports within 10 s flags a scanner</a:t>
              </a:r>
            </a:p>
          </p:txBody>
        </p:sp>
      </p:grpSp>
      <p:sp>
        <p:nvSpPr>
          <p:cNvPr id="127" name="Connector 11"/>
          <p:cNvSpPr/>
          <p:nvPr/>
        </p:nvSpPr>
        <p:spPr>
          <a:xfrm>
            <a:off x="6541375" y="2155000"/>
            <a:ext cx="258751" cy="1"/>
          </a:xfrm>
          <a:prstGeom prst="line">
            <a:avLst/>
          </a:prstGeom>
          <a:ln w="22225">
            <a:solidFill>
              <a:srgbClr val="20375C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grpSp>
        <p:nvGrpSpPr>
          <p:cNvPr id="130" name="Step 4"/>
          <p:cNvGrpSpPr/>
          <p:nvPr/>
        </p:nvGrpSpPr>
        <p:grpSpPr>
          <a:xfrm>
            <a:off x="6820124" y="1330000"/>
            <a:ext cx="1800001" cy="1650001"/>
            <a:chOff x="0" y="0"/>
            <a:chExt cx="1800000" cy="1650000"/>
          </a:xfrm>
        </p:grpSpPr>
        <p:sp>
          <p:nvSpPr>
            <p:cNvPr id="128" name="Rounded Rectangle"/>
            <p:cNvSpPr/>
            <p:nvPr/>
          </p:nvSpPr>
          <p:spPr>
            <a:xfrm>
              <a:off x="0" y="0"/>
              <a:ext cx="1800001" cy="1650001"/>
            </a:xfrm>
            <a:prstGeom prst="roundRect">
              <a:avLst>
                <a:gd name="adj" fmla="val 8000"/>
              </a:avLst>
            </a:prstGeom>
            <a:solidFill>
              <a:srgbClr val="EAF0F8"/>
            </a:solidFill>
            <a:ln w="12700" cap="flat">
              <a:solidFill>
                <a:srgbClr val="20375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29" name="4  Geolocate…"/>
            <p:cNvSpPr txBox="1"/>
            <p:nvPr/>
          </p:nvSpPr>
          <p:spPr>
            <a:xfrm>
              <a:off x="75011" y="473435"/>
              <a:ext cx="1649978" cy="7031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30000" tIns="30000" rIns="30000" bIns="30000" numCol="1" anchor="ctr">
              <a:spAutoFit/>
            </a:bodyPr>
            <a:lstStyle/>
            <a:p>
              <a:pPr algn="ctr">
                <a:defRPr b="1" sz="1300">
                  <a:solidFill>
                    <a:srgbClr val="202020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4  Geolocate</a:t>
              </a:r>
              <a:endParaRPr>
                <a:solidFill>
                  <a:srgbClr val="FFFFFF"/>
                </a:solidFill>
              </a:endParaRPr>
            </a:p>
            <a:p>
              <a:pPr algn="ctr">
                <a:defRPr sz="1100">
                  <a:solidFill>
                    <a:srgbClr val="202020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public IPs in batches of 100, 4.5 s pause, cached; output data.json</a:t>
              </a:r>
            </a:p>
          </p:txBody>
        </p:sp>
      </p:grpSp>
      <p:grpSp>
        <p:nvGrpSpPr>
          <p:cNvPr id="133" name="Frontend note"/>
          <p:cNvGrpSpPr/>
          <p:nvPr/>
        </p:nvGrpSpPr>
        <p:grpSpPr>
          <a:xfrm>
            <a:off x="523875" y="3099999"/>
            <a:ext cx="8096250" cy="360001"/>
            <a:chOff x="0" y="0"/>
            <a:chExt cx="8096250" cy="359999"/>
          </a:xfrm>
        </p:grpSpPr>
        <p:sp>
          <p:nvSpPr>
            <p:cNvPr id="131" name="Rounded Rectangle"/>
            <p:cNvSpPr/>
            <p:nvPr/>
          </p:nvSpPr>
          <p:spPr>
            <a:xfrm>
              <a:off x="0" y="0"/>
              <a:ext cx="8096250" cy="3600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2700" cap="flat">
              <a:solidFill>
                <a:srgbClr val="1F8AA6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32" name="Front end: globe.gl draws each flow as an arc; replay maps flow start time to a 0–1 timeline (about 40 s at 1x)"/>
            <p:cNvSpPr txBox="1"/>
            <p:nvPr/>
          </p:nvSpPr>
          <p:spPr>
            <a:xfrm>
              <a:off x="44784" y="76085"/>
              <a:ext cx="8006682" cy="2078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30000" tIns="30000" rIns="30000" bIns="30000" numCol="1" anchor="ctr">
              <a:spAutoFit/>
            </a:bodyPr>
            <a:lstStyle>
              <a:lvl1pPr algn="ctr">
                <a:defRPr sz="1100">
                  <a:solidFill>
                    <a:srgbClr val="20202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Front end: globe.gl draws each flow as an arc; replay maps flow start time to a 0–1 timeline (about 40 s at 1x)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Rectangle 5"/>
          <p:cNvSpPr txBox="1"/>
          <p:nvPr/>
        </p:nvSpPr>
        <p:spPr>
          <a:xfrm>
            <a:off x="569594" y="400050"/>
            <a:ext cx="8004812" cy="4493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2500">
                <a:solidFill>
                  <a:srgbClr val="20375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Testing and Results</a:t>
            </a:r>
          </a:p>
        </p:txBody>
      </p:sp>
      <p:sp>
        <p:nvSpPr>
          <p:cNvPr id="138" name="Rectangle 1"/>
          <p:cNvSpPr txBox="1"/>
          <p:nvPr/>
        </p:nvSpPr>
        <p:spPr>
          <a:xfrm>
            <a:off x="569594" y="6315075"/>
            <a:ext cx="5814062" cy="2392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Computer Networks Laboratory   CSE20110</a:t>
            </a:r>
          </a:p>
        </p:txBody>
      </p:sp>
      <p:sp>
        <p:nvSpPr>
          <p:cNvPr id="139" name="Rectangle 4"/>
          <p:cNvSpPr txBox="1"/>
          <p:nvPr/>
        </p:nvSpPr>
        <p:spPr>
          <a:xfrm>
            <a:off x="569594" y="3899999"/>
            <a:ext cx="8004812" cy="13437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500"/>
              </a:spcBef>
              <a:defRPr b="1" sz="1200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Test: </a:t>
            </a:r>
            <a:r>
              <a:rPr b="0"/>
              <a:t>browse the web ~4.5 min with Wireshark running, then run build_data.py on the capture and replay it.</a:t>
            </a:r>
            <a:endParaRPr b="0"/>
          </a:p>
          <a:p>
            <a:pPr>
              <a:spcBef>
                <a:spcPts val="500"/>
              </a:spcBef>
              <a:defRPr b="1" sz="1200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Expected: </a:t>
            </a:r>
            <a:r>
              <a:rPr b="0"/>
              <a:t>arcs from the home point to several countries; protocol bars filled; no scan alert for ordinary traffic.</a:t>
            </a:r>
            <a:endParaRPr b="0"/>
          </a:p>
          <a:p>
            <a:pPr>
              <a:spcBef>
                <a:spcPts val="500"/>
              </a:spcBef>
              <a:defRPr b="1" sz="1200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Observed: </a:t>
            </a:r>
            <a:r>
              <a:rPr b="0"/>
              <a:t>HTTPS dominates (69,858 of 70,843 packets in plotted flows); UDP 894, HTTP 57, TCP 26, ICMP 8. Top destinations: India, United States, Canada.</a:t>
            </a:r>
            <a:endParaRPr b="0"/>
          </a:p>
          <a:p>
            <a:pPr>
              <a:spcBef>
                <a:spcPts val="500"/>
              </a:spcBef>
              <a:defRPr b="1" sz="1200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Objectives achieved: </a:t>
            </a:r>
            <a:r>
              <a:rPr b="0"/>
              <a:t>parse, flows, protocol ID, geolocation and replay shown on real data. Simulator tests (loss, burst, attack) are in the demo.</a:t>
            </a:r>
          </a:p>
        </p:txBody>
      </p:sp>
      <p:graphicFrame>
        <p:nvGraphicFramePr>
          <p:cNvPr id="140" name="Top countries chart"/>
          <p:cNvGraphicFramePr/>
          <p:nvPr/>
        </p:nvGraphicFramePr>
        <p:xfrm>
          <a:off x="550826" y="1143592"/>
          <a:ext cx="4514299" cy="2533069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grpSp>
        <p:nvGrpSpPr>
          <p:cNvPr id="143" name="Stat 1"/>
          <p:cNvGrpSpPr/>
          <p:nvPr/>
        </p:nvGrpSpPr>
        <p:grpSpPr>
          <a:xfrm>
            <a:off x="5373875" y="1330000"/>
            <a:ext cx="1593126" cy="1100001"/>
            <a:chOff x="0" y="0"/>
            <a:chExt cx="1593125" cy="1100000"/>
          </a:xfrm>
        </p:grpSpPr>
        <p:sp>
          <p:nvSpPr>
            <p:cNvPr id="141" name="Rounded Rectangle"/>
            <p:cNvSpPr/>
            <p:nvPr/>
          </p:nvSpPr>
          <p:spPr>
            <a:xfrm>
              <a:off x="0" y="0"/>
              <a:ext cx="1593126" cy="1100001"/>
            </a:xfrm>
            <a:prstGeom prst="roundRect">
              <a:avLst>
                <a:gd name="adj" fmla="val 8000"/>
              </a:avLst>
            </a:prstGeom>
            <a:solidFill>
              <a:srgbClr val="EAF0F8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42" name="76,125…"/>
            <p:cNvSpPr txBox="1"/>
            <p:nvPr/>
          </p:nvSpPr>
          <p:spPr>
            <a:xfrm>
              <a:off x="55773" y="287127"/>
              <a:ext cx="1481579" cy="52574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30000" tIns="30000" rIns="30000" bIns="30000" numCol="1" anchor="ctr">
              <a:spAutoFit/>
            </a:bodyPr>
            <a:lstStyle/>
            <a:p>
              <a:pPr algn="ctr">
                <a:defRPr b="1" sz="2200">
                  <a:solidFill>
                    <a:srgbClr val="20375C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76,125</a:t>
              </a:r>
              <a:endParaRPr>
                <a:solidFill>
                  <a:srgbClr val="FFFFFF"/>
                </a:solidFill>
              </a:endParaRPr>
            </a:p>
            <a:p>
              <a:pPr algn="ctr">
                <a:defRPr sz="1000">
                  <a:solidFill>
                    <a:srgbClr val="20375C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packets captured</a:t>
              </a:r>
            </a:p>
          </p:txBody>
        </p:sp>
      </p:grpSp>
      <p:grpSp>
        <p:nvGrpSpPr>
          <p:cNvPr id="146" name="Stat 2"/>
          <p:cNvGrpSpPr/>
          <p:nvPr/>
        </p:nvGrpSpPr>
        <p:grpSpPr>
          <a:xfrm>
            <a:off x="7026999" y="1330000"/>
            <a:ext cx="1593126" cy="1100001"/>
            <a:chOff x="0" y="0"/>
            <a:chExt cx="1593125" cy="1100000"/>
          </a:xfrm>
        </p:grpSpPr>
        <p:sp>
          <p:nvSpPr>
            <p:cNvPr id="144" name="Rounded Rectangle"/>
            <p:cNvSpPr/>
            <p:nvPr/>
          </p:nvSpPr>
          <p:spPr>
            <a:xfrm>
              <a:off x="0" y="0"/>
              <a:ext cx="1593126" cy="1100001"/>
            </a:xfrm>
            <a:prstGeom prst="roundRect">
              <a:avLst>
                <a:gd name="adj" fmla="val 8000"/>
              </a:avLst>
            </a:prstGeom>
            <a:solidFill>
              <a:srgbClr val="EAF0F8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45" name="271 s…"/>
            <p:cNvSpPr txBox="1"/>
            <p:nvPr/>
          </p:nvSpPr>
          <p:spPr>
            <a:xfrm>
              <a:off x="55773" y="287127"/>
              <a:ext cx="1481579" cy="52574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30000" tIns="30000" rIns="30000" bIns="30000" numCol="1" anchor="ctr">
              <a:spAutoFit/>
            </a:bodyPr>
            <a:lstStyle/>
            <a:p>
              <a:pPr algn="ctr">
                <a:defRPr b="1" sz="2200">
                  <a:solidFill>
                    <a:srgbClr val="20375C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271 s</a:t>
              </a:r>
              <a:endParaRPr>
                <a:solidFill>
                  <a:srgbClr val="FFFFFF"/>
                </a:solidFill>
              </a:endParaRPr>
            </a:p>
            <a:p>
              <a:pPr algn="ctr">
                <a:defRPr sz="1000">
                  <a:solidFill>
                    <a:srgbClr val="20375C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capture duration</a:t>
              </a:r>
            </a:p>
          </p:txBody>
        </p:sp>
      </p:grpSp>
      <p:grpSp>
        <p:nvGrpSpPr>
          <p:cNvPr id="149" name="Stat 3"/>
          <p:cNvGrpSpPr/>
          <p:nvPr/>
        </p:nvGrpSpPr>
        <p:grpSpPr>
          <a:xfrm>
            <a:off x="5373875" y="2530000"/>
            <a:ext cx="1593126" cy="1100001"/>
            <a:chOff x="0" y="0"/>
            <a:chExt cx="1593125" cy="1100000"/>
          </a:xfrm>
        </p:grpSpPr>
        <p:sp>
          <p:nvSpPr>
            <p:cNvPr id="147" name="Rounded Rectangle"/>
            <p:cNvSpPr/>
            <p:nvPr/>
          </p:nvSpPr>
          <p:spPr>
            <a:xfrm>
              <a:off x="0" y="0"/>
              <a:ext cx="1593126" cy="1100001"/>
            </a:xfrm>
            <a:prstGeom prst="roundRect">
              <a:avLst>
                <a:gd name="adj" fmla="val 8000"/>
              </a:avLst>
            </a:prstGeom>
            <a:solidFill>
              <a:srgbClr val="EAF0F8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48" name="389…"/>
            <p:cNvSpPr txBox="1"/>
            <p:nvPr/>
          </p:nvSpPr>
          <p:spPr>
            <a:xfrm>
              <a:off x="55773" y="287127"/>
              <a:ext cx="1481579" cy="52574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30000" tIns="30000" rIns="30000" bIns="30000" numCol="1" anchor="ctr">
              <a:spAutoFit/>
            </a:bodyPr>
            <a:lstStyle/>
            <a:p>
              <a:pPr algn="ctr">
                <a:defRPr b="1" sz="2200">
                  <a:solidFill>
                    <a:srgbClr val="20375C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389</a:t>
              </a:r>
              <a:endParaRPr>
                <a:solidFill>
                  <a:srgbClr val="FFFFFF"/>
                </a:solidFill>
              </a:endParaRPr>
            </a:p>
            <a:p>
              <a:pPr algn="ctr">
                <a:defRPr sz="1000">
                  <a:solidFill>
                    <a:srgbClr val="20375C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flows plotted as arcs</a:t>
              </a:r>
            </a:p>
          </p:txBody>
        </p:sp>
      </p:grpSp>
      <p:grpSp>
        <p:nvGrpSpPr>
          <p:cNvPr id="152" name="Stat 4"/>
          <p:cNvGrpSpPr/>
          <p:nvPr/>
        </p:nvGrpSpPr>
        <p:grpSpPr>
          <a:xfrm>
            <a:off x="7026999" y="2530000"/>
            <a:ext cx="1593126" cy="1100001"/>
            <a:chOff x="0" y="0"/>
            <a:chExt cx="1593125" cy="1100000"/>
          </a:xfrm>
        </p:grpSpPr>
        <p:sp>
          <p:nvSpPr>
            <p:cNvPr id="150" name="Rounded Rectangle"/>
            <p:cNvSpPr/>
            <p:nvPr/>
          </p:nvSpPr>
          <p:spPr>
            <a:xfrm>
              <a:off x="0" y="0"/>
              <a:ext cx="1593126" cy="1100001"/>
            </a:xfrm>
            <a:prstGeom prst="roundRect">
              <a:avLst>
                <a:gd name="adj" fmla="val 8000"/>
              </a:avLst>
            </a:prstGeom>
            <a:solidFill>
              <a:srgbClr val="EAF0F8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51" name="0…"/>
            <p:cNvSpPr txBox="1"/>
            <p:nvPr/>
          </p:nvSpPr>
          <p:spPr>
            <a:xfrm>
              <a:off x="55773" y="217277"/>
              <a:ext cx="1481579" cy="66544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30000" tIns="30000" rIns="30000" bIns="30000" numCol="1" anchor="ctr">
              <a:spAutoFit/>
            </a:bodyPr>
            <a:lstStyle/>
            <a:p>
              <a:pPr algn="ctr">
                <a:defRPr b="1" sz="2200">
                  <a:solidFill>
                    <a:srgbClr val="20375C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0</a:t>
              </a:r>
              <a:endParaRPr>
                <a:solidFill>
                  <a:srgbClr val="FFFFFF"/>
                </a:solidFill>
              </a:endParaRPr>
            </a:p>
            <a:p>
              <a:pPr algn="ctr">
                <a:defRPr sz="1000">
                  <a:solidFill>
                    <a:srgbClr val="20375C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scan alerts (normal browsing)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Rectangle 7"/>
          <p:cNvSpPr txBox="1"/>
          <p:nvPr/>
        </p:nvSpPr>
        <p:spPr>
          <a:xfrm>
            <a:off x="569594" y="400050"/>
            <a:ext cx="8004812" cy="4493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2500">
                <a:solidFill>
                  <a:srgbClr val="20375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Working Demonstration</a:t>
            </a:r>
          </a:p>
        </p:txBody>
      </p:sp>
      <p:sp>
        <p:nvSpPr>
          <p:cNvPr id="157" name="Rectangle 1"/>
          <p:cNvSpPr txBox="1"/>
          <p:nvPr/>
        </p:nvSpPr>
        <p:spPr>
          <a:xfrm>
            <a:off x="569594" y="6315075"/>
            <a:ext cx="5814062" cy="2392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Computer Networks Laboratory   CSE20110</a:t>
            </a:r>
          </a:p>
        </p:txBody>
      </p:sp>
      <p:sp>
        <p:nvSpPr>
          <p:cNvPr id="158" name="Rectangle 3"/>
          <p:cNvSpPr txBox="1"/>
          <p:nvPr/>
        </p:nvSpPr>
        <p:spPr>
          <a:xfrm>
            <a:off x="569594" y="1428750"/>
            <a:ext cx="8004812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Function to demonstrate</a:t>
            </a:r>
          </a:p>
        </p:txBody>
      </p:sp>
      <p:sp>
        <p:nvSpPr>
          <p:cNvPr id="159" name="Rectangle 4"/>
          <p:cNvSpPr txBox="1"/>
          <p:nvPr/>
        </p:nvSpPr>
        <p:spPr>
          <a:xfrm>
            <a:off x="569594" y="1899999"/>
            <a:ext cx="8004812" cy="4920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400"/>
              </a:spcBef>
              <a:defRPr sz="1400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Replay a real capture as animated arcs on the 3D globe, then use the live simulator to show a normal packet, a lost packet with TCP-style retransmission, and an attack pattern.</a:t>
            </a:r>
          </a:p>
        </p:txBody>
      </p:sp>
      <p:sp>
        <p:nvSpPr>
          <p:cNvPr id="160" name="Rectangle 5"/>
          <p:cNvSpPr txBox="1"/>
          <p:nvPr/>
        </p:nvSpPr>
        <p:spPr>
          <a:xfrm>
            <a:off x="569594" y="2899999"/>
            <a:ext cx="8004812" cy="1190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600"/>
              </a:spcBef>
              <a:defRPr sz="1300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1. Setup: python build_data.py capture.pcapng (or --demo), then in frontend/ run python -m http.server 8000; open localhost:8000</a:t>
            </a:r>
          </a:p>
          <a:p>
            <a:pPr>
              <a:spcBef>
                <a:spcPts val="600"/>
              </a:spcBef>
              <a:defRPr sz="1300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2. Replay tab: play, change speed (0.5x–4x), hover an arc for IPs, countries, packets and bytes</a:t>
            </a:r>
          </a:p>
          <a:p>
            <a:pPr>
              <a:spcBef>
                <a:spcPts val="600"/>
              </a:spcBef>
              <a:defRPr sz="1300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3. Simulator tab: send Normal, Lost (retransmit on), Suspicious (port scan / SYN flood / exfiltration); read the event log</a:t>
            </a:r>
          </a:p>
        </p:txBody>
      </p:sp>
      <p:sp>
        <p:nvSpPr>
          <p:cNvPr id="161" name="Rectangle 6"/>
          <p:cNvSpPr txBox="1"/>
          <p:nvPr/>
        </p:nvSpPr>
        <p:spPr>
          <a:xfrm>
            <a:off x="569594" y="5350000"/>
            <a:ext cx="8004812" cy="467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400"/>
              </a:spcBef>
              <a:defRPr b="1" sz="1300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Success criterion: </a:t>
            </a:r>
            <a:r>
              <a:rPr b="0"/>
              <a:t>arcs replay in protocol colours; a lost packet stops midway, logs a timeout and a retransmission arc completes delivery; attacks show red arcs with the triggered rule.</a:t>
            </a:r>
          </a:p>
        </p:txBody>
      </p:sp>
      <p:grpSp>
        <p:nvGrpSpPr>
          <p:cNvPr id="164" name="Legend HTTPS"/>
          <p:cNvGrpSpPr/>
          <p:nvPr/>
        </p:nvGrpSpPr>
        <p:grpSpPr>
          <a:xfrm>
            <a:off x="523875" y="4800000"/>
            <a:ext cx="1105178" cy="330001"/>
            <a:chOff x="0" y="0"/>
            <a:chExt cx="1105177" cy="329999"/>
          </a:xfrm>
        </p:grpSpPr>
        <p:sp>
          <p:nvSpPr>
            <p:cNvPr id="162" name="Rounded Rectangle"/>
            <p:cNvSpPr/>
            <p:nvPr/>
          </p:nvSpPr>
          <p:spPr>
            <a:xfrm>
              <a:off x="0" y="0"/>
              <a:ext cx="1105178" cy="330000"/>
            </a:xfrm>
            <a:prstGeom prst="roundRect">
              <a:avLst>
                <a:gd name="adj" fmla="val 8000"/>
              </a:avLst>
            </a:prstGeom>
            <a:solidFill>
              <a:srgbClr val="3B82F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63" name="HTTPS"/>
            <p:cNvSpPr txBox="1"/>
            <p:nvPr/>
          </p:nvSpPr>
          <p:spPr>
            <a:xfrm>
              <a:off x="37731" y="61085"/>
              <a:ext cx="1029716" cy="2078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30000" tIns="30000" rIns="30000" bIns="30000" numCol="1" anchor="ctr">
              <a:spAutoFit/>
            </a:bodyPr>
            <a:lstStyle>
              <a:lvl1pPr algn="ctr">
                <a:defRPr b="1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HTTPS</a:t>
              </a:r>
            </a:p>
          </p:txBody>
        </p:sp>
      </p:grpSp>
      <p:grpSp>
        <p:nvGrpSpPr>
          <p:cNvPr id="167" name="Legend HTTP"/>
          <p:cNvGrpSpPr/>
          <p:nvPr/>
        </p:nvGrpSpPr>
        <p:grpSpPr>
          <a:xfrm>
            <a:off x="1689052" y="4800000"/>
            <a:ext cx="1105179" cy="330001"/>
            <a:chOff x="0" y="0"/>
            <a:chExt cx="1105177" cy="329999"/>
          </a:xfrm>
        </p:grpSpPr>
        <p:sp>
          <p:nvSpPr>
            <p:cNvPr id="165" name="Rounded Rectangle"/>
            <p:cNvSpPr/>
            <p:nvPr/>
          </p:nvSpPr>
          <p:spPr>
            <a:xfrm>
              <a:off x="0" y="0"/>
              <a:ext cx="1105178" cy="330000"/>
            </a:xfrm>
            <a:prstGeom prst="roundRect">
              <a:avLst>
                <a:gd name="adj" fmla="val 8000"/>
              </a:avLst>
            </a:prstGeom>
            <a:solidFill>
              <a:srgbClr val="22D3EE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66" name="HTTP"/>
            <p:cNvSpPr txBox="1"/>
            <p:nvPr/>
          </p:nvSpPr>
          <p:spPr>
            <a:xfrm>
              <a:off x="37731" y="61085"/>
              <a:ext cx="1029716" cy="2078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30000" tIns="30000" rIns="30000" bIns="30000" numCol="1" anchor="ctr">
              <a:spAutoFit/>
            </a:bodyPr>
            <a:lstStyle>
              <a:lvl1pPr algn="ctr">
                <a:defRPr b="1" sz="1100">
                  <a:solidFill>
                    <a:srgbClr val="20202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HTTP</a:t>
              </a:r>
            </a:p>
          </p:txBody>
        </p:sp>
      </p:grpSp>
      <p:grpSp>
        <p:nvGrpSpPr>
          <p:cNvPr id="170" name="Legend DNS"/>
          <p:cNvGrpSpPr/>
          <p:nvPr/>
        </p:nvGrpSpPr>
        <p:grpSpPr>
          <a:xfrm>
            <a:off x="2854231" y="4800000"/>
            <a:ext cx="1105179" cy="330001"/>
            <a:chOff x="0" y="0"/>
            <a:chExt cx="1105177" cy="329999"/>
          </a:xfrm>
        </p:grpSpPr>
        <p:sp>
          <p:nvSpPr>
            <p:cNvPr id="168" name="Rounded Rectangle"/>
            <p:cNvSpPr/>
            <p:nvPr/>
          </p:nvSpPr>
          <p:spPr>
            <a:xfrm>
              <a:off x="0" y="0"/>
              <a:ext cx="1105178" cy="330000"/>
            </a:xfrm>
            <a:prstGeom prst="roundRect">
              <a:avLst>
                <a:gd name="adj" fmla="val 8000"/>
              </a:avLst>
            </a:prstGeom>
            <a:solidFill>
              <a:srgbClr val="22C55E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69" name="DNS"/>
            <p:cNvSpPr txBox="1"/>
            <p:nvPr/>
          </p:nvSpPr>
          <p:spPr>
            <a:xfrm>
              <a:off x="37731" y="61085"/>
              <a:ext cx="1029716" cy="2078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30000" tIns="30000" rIns="30000" bIns="30000" numCol="1" anchor="ctr">
              <a:spAutoFit/>
            </a:bodyPr>
            <a:lstStyle>
              <a:lvl1pPr algn="ctr">
                <a:defRPr b="1" sz="1100">
                  <a:solidFill>
                    <a:srgbClr val="20202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DNS</a:t>
              </a:r>
            </a:p>
          </p:txBody>
        </p:sp>
      </p:grpSp>
      <p:grpSp>
        <p:nvGrpSpPr>
          <p:cNvPr id="173" name="Legend TCP"/>
          <p:cNvGrpSpPr/>
          <p:nvPr/>
        </p:nvGrpSpPr>
        <p:grpSpPr>
          <a:xfrm>
            <a:off x="4019408" y="4800000"/>
            <a:ext cx="1105179" cy="330001"/>
            <a:chOff x="0" y="0"/>
            <a:chExt cx="1105177" cy="329999"/>
          </a:xfrm>
        </p:grpSpPr>
        <p:sp>
          <p:nvSpPr>
            <p:cNvPr id="171" name="Rounded Rectangle"/>
            <p:cNvSpPr/>
            <p:nvPr/>
          </p:nvSpPr>
          <p:spPr>
            <a:xfrm>
              <a:off x="0" y="0"/>
              <a:ext cx="1105178" cy="330000"/>
            </a:xfrm>
            <a:prstGeom prst="roundRect">
              <a:avLst>
                <a:gd name="adj" fmla="val 8000"/>
              </a:avLst>
            </a:prstGeom>
            <a:solidFill>
              <a:srgbClr val="8B5CF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72" name="TCP"/>
            <p:cNvSpPr txBox="1"/>
            <p:nvPr/>
          </p:nvSpPr>
          <p:spPr>
            <a:xfrm>
              <a:off x="37731" y="61085"/>
              <a:ext cx="1029716" cy="2078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30000" tIns="30000" rIns="30000" bIns="30000" numCol="1" anchor="ctr">
              <a:spAutoFit/>
            </a:bodyPr>
            <a:lstStyle>
              <a:lvl1pPr algn="ctr">
                <a:defRPr b="1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TCP</a:t>
              </a:r>
            </a:p>
          </p:txBody>
        </p:sp>
      </p:grpSp>
      <p:grpSp>
        <p:nvGrpSpPr>
          <p:cNvPr id="176" name="Legend UDP"/>
          <p:cNvGrpSpPr/>
          <p:nvPr/>
        </p:nvGrpSpPr>
        <p:grpSpPr>
          <a:xfrm>
            <a:off x="5184587" y="4800000"/>
            <a:ext cx="1105179" cy="330001"/>
            <a:chOff x="0" y="0"/>
            <a:chExt cx="1105177" cy="329999"/>
          </a:xfrm>
        </p:grpSpPr>
        <p:sp>
          <p:nvSpPr>
            <p:cNvPr id="174" name="Rounded Rectangle"/>
            <p:cNvSpPr/>
            <p:nvPr/>
          </p:nvSpPr>
          <p:spPr>
            <a:xfrm>
              <a:off x="0" y="0"/>
              <a:ext cx="1105178" cy="330000"/>
            </a:xfrm>
            <a:prstGeom prst="roundRect">
              <a:avLst>
                <a:gd name="adj" fmla="val 8000"/>
              </a:avLst>
            </a:prstGeom>
            <a:solidFill>
              <a:srgbClr val="EAB308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75" name="UDP"/>
            <p:cNvSpPr txBox="1"/>
            <p:nvPr/>
          </p:nvSpPr>
          <p:spPr>
            <a:xfrm>
              <a:off x="37731" y="61085"/>
              <a:ext cx="1029716" cy="2078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30000" tIns="30000" rIns="30000" bIns="30000" numCol="1" anchor="ctr">
              <a:spAutoFit/>
            </a:bodyPr>
            <a:lstStyle>
              <a:lvl1pPr algn="ctr">
                <a:defRPr b="1" sz="1100">
                  <a:solidFill>
                    <a:srgbClr val="20202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UDP</a:t>
              </a:r>
            </a:p>
          </p:txBody>
        </p:sp>
      </p:grpSp>
      <p:grpSp>
        <p:nvGrpSpPr>
          <p:cNvPr id="179" name="Legend ICMP"/>
          <p:cNvGrpSpPr/>
          <p:nvPr/>
        </p:nvGrpSpPr>
        <p:grpSpPr>
          <a:xfrm>
            <a:off x="6349765" y="4800000"/>
            <a:ext cx="1105179" cy="330001"/>
            <a:chOff x="0" y="0"/>
            <a:chExt cx="1105177" cy="329999"/>
          </a:xfrm>
        </p:grpSpPr>
        <p:sp>
          <p:nvSpPr>
            <p:cNvPr id="177" name="Rounded Rectangle"/>
            <p:cNvSpPr/>
            <p:nvPr/>
          </p:nvSpPr>
          <p:spPr>
            <a:xfrm>
              <a:off x="0" y="0"/>
              <a:ext cx="1105178" cy="330000"/>
            </a:xfrm>
            <a:prstGeom prst="roundRect">
              <a:avLst>
                <a:gd name="adj" fmla="val 8000"/>
              </a:avLst>
            </a:prstGeom>
            <a:solidFill>
              <a:srgbClr val="F9731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78" name="ICMP"/>
            <p:cNvSpPr txBox="1"/>
            <p:nvPr/>
          </p:nvSpPr>
          <p:spPr>
            <a:xfrm>
              <a:off x="37731" y="61085"/>
              <a:ext cx="1029716" cy="2078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30000" tIns="30000" rIns="30000" bIns="30000" numCol="1" anchor="ctr">
              <a:spAutoFit/>
            </a:bodyPr>
            <a:lstStyle>
              <a:lvl1pPr algn="ctr">
                <a:defRPr b="1" sz="1100">
                  <a:solidFill>
                    <a:srgbClr val="20202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ICMP</a:t>
              </a:r>
            </a:p>
          </p:txBody>
        </p:sp>
      </p:grpSp>
      <p:grpSp>
        <p:nvGrpSpPr>
          <p:cNvPr id="182" name="Legend Scanner"/>
          <p:cNvGrpSpPr/>
          <p:nvPr/>
        </p:nvGrpSpPr>
        <p:grpSpPr>
          <a:xfrm>
            <a:off x="7514942" y="4800000"/>
            <a:ext cx="1105179" cy="330001"/>
            <a:chOff x="0" y="0"/>
            <a:chExt cx="1105177" cy="329999"/>
          </a:xfrm>
        </p:grpSpPr>
        <p:sp>
          <p:nvSpPr>
            <p:cNvPr id="180" name="Rounded Rectangle"/>
            <p:cNvSpPr/>
            <p:nvPr/>
          </p:nvSpPr>
          <p:spPr>
            <a:xfrm>
              <a:off x="0" y="0"/>
              <a:ext cx="1105178" cy="330000"/>
            </a:xfrm>
            <a:prstGeom prst="roundRect">
              <a:avLst>
                <a:gd name="adj" fmla="val 8000"/>
              </a:avLst>
            </a:prstGeom>
            <a:solidFill>
              <a:srgbClr val="EF444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81" name="Scanner"/>
            <p:cNvSpPr txBox="1"/>
            <p:nvPr/>
          </p:nvSpPr>
          <p:spPr>
            <a:xfrm>
              <a:off x="37731" y="61085"/>
              <a:ext cx="1029716" cy="2078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30000" tIns="30000" rIns="30000" bIns="30000" numCol="1" anchor="ctr">
              <a:spAutoFit/>
            </a:bodyPr>
            <a:lstStyle>
              <a:lvl1pPr algn="ctr">
                <a:defRPr b="1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Scanner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Rectangle 6"/>
          <p:cNvSpPr txBox="1"/>
          <p:nvPr/>
        </p:nvSpPr>
        <p:spPr>
          <a:xfrm>
            <a:off x="569594" y="400050"/>
            <a:ext cx="8004812" cy="4493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2500">
                <a:solidFill>
                  <a:srgbClr val="20375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Conclusion and Contributions</a:t>
            </a:r>
          </a:p>
        </p:txBody>
      </p:sp>
      <p:sp>
        <p:nvSpPr>
          <p:cNvPr id="187" name="Rectangle 1"/>
          <p:cNvSpPr txBox="1"/>
          <p:nvPr/>
        </p:nvSpPr>
        <p:spPr>
          <a:xfrm>
            <a:off x="569594" y="6315075"/>
            <a:ext cx="5814062" cy="2392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Computer Networks Laboratory   CSE20110</a:t>
            </a:r>
          </a:p>
        </p:txBody>
      </p:sp>
      <p:sp>
        <p:nvSpPr>
          <p:cNvPr id="188" name="Rectangle 3"/>
          <p:cNvSpPr txBox="1"/>
          <p:nvPr/>
        </p:nvSpPr>
        <p:spPr>
          <a:xfrm>
            <a:off x="569594" y="1299999"/>
            <a:ext cx="8004812" cy="20160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800"/>
              </a:spcBef>
              <a:defRPr b="1" sz="1400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Outcome: </a:t>
            </a:r>
            <a:r>
              <a:rPr b="0"/>
              <a:t>raw packet captures turned into an interactive 3D map with protocol colours, statistics, scan alerts and a loss/retransmission simulator, using open-source tools on a standard laptop.</a:t>
            </a:r>
            <a:endParaRPr b="0"/>
          </a:p>
          <a:p>
            <a:pPr>
              <a:spcBef>
                <a:spcPts val="800"/>
              </a:spcBef>
              <a:defRPr b="1" sz="1400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Application: </a:t>
            </a:r>
            <a:r>
              <a:rPr b="0"/>
              <a:t>teaching how IP addressing, ports, TCP/UDP, DNS and reliability work; quick visual triage of captured traffic.</a:t>
            </a:r>
            <a:endParaRPr b="0"/>
          </a:p>
          <a:p>
            <a:pPr>
              <a:spcBef>
                <a:spcPts val="800"/>
              </a:spcBef>
              <a:defRPr b="1" sz="1400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Limitation: </a:t>
            </a:r>
            <a:r>
              <a:rPr b="0"/>
              <a:t>offline replay, headers only, IPv4 only; geolocation is approximate and detection is threshold-based.</a:t>
            </a:r>
            <a:endParaRPr b="0"/>
          </a:p>
          <a:p>
            <a:pPr>
              <a:spcBef>
                <a:spcPts val="800"/>
              </a:spcBef>
              <a:defRPr b="1" sz="1400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Future scope: </a:t>
            </a:r>
            <a:r>
              <a:rPr b="0"/>
              <a:t>live capture over WebSocket, offline GeoLite2 database, IPv6, more detectors (ARP spoofing, DNS tunnelling).</a:t>
            </a:r>
          </a:p>
        </p:txBody>
      </p:sp>
      <p:sp>
        <p:nvSpPr>
          <p:cNvPr id="189" name="Rectangle 4"/>
          <p:cNvSpPr txBox="1"/>
          <p:nvPr/>
        </p:nvSpPr>
        <p:spPr>
          <a:xfrm>
            <a:off x="569594" y="3766620"/>
            <a:ext cx="8004812" cy="23707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lvl="1">
              <a:defRPr sz="1600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Team contributions: </a:t>
            </a:r>
            <a:r>
              <a:rPr b="1"/>
              <a:t>Harshit Sharma</a:t>
            </a:r>
            <a:r>
              <a:t> - packet capture (Wireshark), scapy parsing,      </a:t>
            </a:r>
          </a:p>
          <a:p>
            <a:pPr lvl="1">
              <a:defRPr sz="1600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                                flow aggregation and protocol identification.</a:t>
            </a:r>
          </a:p>
          <a:p>
            <a:pPr lvl="5">
              <a:defRPr sz="1600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b="1"/>
              <a:t>Rohan Khalate</a:t>
            </a:r>
            <a:r>
              <a:t> - port-scan detection, IP geolocation (ip-                                                api.com and the cache), and the </a:t>
            </a:r>
            <a:r>
              <a:rPr sz="1300">
                <a:latin typeface="Courier"/>
                <a:ea typeface="Courier"/>
                <a:cs typeface="Courier"/>
                <a:sym typeface="Courier"/>
              </a:rPr>
              <a:t>data.json</a:t>
            </a:r>
            <a:r>
              <a:t> builder.</a:t>
            </a:r>
          </a:p>
          <a:p>
            <a:pPr lvl="5">
              <a:defRPr sz="1600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b="1"/>
              <a:t>Aditya Pilllai</a:t>
            </a:r>
            <a:r>
              <a:t> - the front end, covering the globe.gl arcs, replay           controls, and the statistics and alerts panels.</a:t>
            </a:r>
            <a:br/>
            <a:r>
              <a:rPr b="1"/>
              <a:t>Yashowardhan Bhosale</a:t>
            </a:r>
            <a:r>
              <a:t> -  the live simulator (loss, retransmission, attacks), testing, and the report and presentation.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Rectangle 5"/>
          <p:cNvSpPr txBox="1"/>
          <p:nvPr/>
        </p:nvSpPr>
        <p:spPr>
          <a:xfrm>
            <a:off x="569594" y="400050"/>
            <a:ext cx="8004812" cy="4493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500">
                <a:solidFill>
                  <a:srgbClr val="20375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References</a:t>
            </a:r>
          </a:p>
        </p:txBody>
      </p:sp>
      <p:sp>
        <p:nvSpPr>
          <p:cNvPr id="194" name="Rectangle 1"/>
          <p:cNvSpPr txBox="1"/>
          <p:nvPr/>
        </p:nvSpPr>
        <p:spPr>
          <a:xfrm>
            <a:off x="569594" y="6315075"/>
            <a:ext cx="5814062" cy="2392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Computer Networks Laboratory   CSE20110</a:t>
            </a:r>
          </a:p>
        </p:txBody>
      </p:sp>
      <p:sp>
        <p:nvSpPr>
          <p:cNvPr id="195" name="Rectangle 2"/>
          <p:cNvSpPr txBox="1"/>
          <p:nvPr/>
        </p:nvSpPr>
        <p:spPr>
          <a:xfrm>
            <a:off x="6713219" y="6315075"/>
            <a:ext cx="1813562" cy="2392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Backup slide</a:t>
            </a:r>
          </a:p>
        </p:txBody>
      </p:sp>
      <p:sp>
        <p:nvSpPr>
          <p:cNvPr id="196" name="Rectangle 3"/>
          <p:cNvSpPr txBox="1"/>
          <p:nvPr/>
        </p:nvSpPr>
        <p:spPr>
          <a:xfrm>
            <a:off x="569594" y="1524000"/>
            <a:ext cx="8004812" cy="19533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700"/>
              </a:spcBef>
              <a:defRPr sz="1200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[1] Wireshark Foundation, “Wireshark User’s Guide,” wireshark.org.</a:t>
            </a:r>
          </a:p>
          <a:p>
            <a:pPr>
              <a:spcBef>
                <a:spcPts val="700"/>
              </a:spcBef>
              <a:defRPr sz="1200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[2] Scapy Project, “Scapy documentation,” scapy.net.</a:t>
            </a:r>
          </a:p>
          <a:p>
            <a:pPr>
              <a:spcBef>
                <a:spcPts val="700"/>
              </a:spcBef>
              <a:defRPr sz="1200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[3] vasturiano, “globe.gl documentation,” globe.gl; “Three.js documentation,” threejs.org.</a:t>
            </a:r>
          </a:p>
          <a:p>
            <a:pPr>
              <a:spcBef>
                <a:spcPts val="700"/>
              </a:spcBef>
              <a:defRPr sz="1200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[4] ip-api.com, “IP Geolocation API – batch endpoint documentation,” ip-api.com/docs.</a:t>
            </a:r>
          </a:p>
          <a:p>
            <a:pPr>
              <a:spcBef>
                <a:spcPts val="700"/>
              </a:spcBef>
              <a:defRPr sz="1200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[5] J. Postel, “Internet Protocol,” RFC 791, 1981; “User Datagram Protocol,” RFC 768, 1980; “Internet Control Message Protocol,” RFC 792, 1981.</a:t>
            </a:r>
          </a:p>
          <a:p>
            <a:pPr>
              <a:spcBef>
                <a:spcPts val="700"/>
              </a:spcBef>
              <a:defRPr sz="1200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[6] W. Eddy, “Transmission Control Protocol (TCP),” RFC 9293, 2022; P. Mockapetris, “Domain Names – Implementation and Specification,” RFC 1035, 1987; R. Fielding et al., “HTTP Semantics,” RFC 9110, 2022.</a:t>
            </a:r>
          </a:p>
        </p:txBody>
      </p:sp>
      <p:sp>
        <p:nvSpPr>
          <p:cNvPr id="197" name="Rectangle 4"/>
          <p:cNvSpPr txBox="1"/>
          <p:nvPr/>
        </p:nvSpPr>
        <p:spPr>
          <a:xfrm>
            <a:off x="569594" y="5143500"/>
            <a:ext cx="8004812" cy="2642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400"/>
              </a:spcBef>
              <a:defRPr b="1" sz="1200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Project source: </a:t>
            </a:r>
            <a:r>
              <a:rPr b="0"/>
              <a:t>github.com/Har-2208/geo_trace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ChatGPT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Aptos"/>
            <a:ea typeface="Aptos"/>
            <a:cs typeface="Apto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905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Aptos"/>
            <a:ea typeface="Aptos"/>
            <a:cs typeface="Apto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ChatGPT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Aptos"/>
            <a:ea typeface="Aptos"/>
            <a:cs typeface="Apto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905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Aptos"/>
            <a:ea typeface="Aptos"/>
            <a:cs typeface="Apto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